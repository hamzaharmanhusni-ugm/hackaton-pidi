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9" r:id="rId3"/>
    <p:sldId id="260" r:id="rId4"/>
    <p:sldId id="280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303" r:id="rId26"/>
    <p:sldId id="304" r:id="rId27"/>
    <p:sldId id="305" r:id="rId28"/>
    <p:sldId id="306" r:id="rId29"/>
    <p:sldId id="307" r:id="rId30"/>
    <p:sldId id="308" r:id="rId31"/>
    <p:sldId id="274" r:id="rId32"/>
  </p:sldIdLst>
  <p:sldSz cx="7556500" cy="10693400"/>
  <p:notesSz cx="6858000" cy="9144000"/>
  <p:embeddedFontLst>
    <p:embeddedFont>
      <p:font typeface="Mortend Bold" panose="020B0604020202020204" charset="0"/>
      <p:regular r:id="rId33"/>
    </p:embeddedFont>
    <p:embeddedFont>
      <p:font typeface="Oxanium" panose="020B0604020202020204" charset="2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4622" autoAdjust="0"/>
  </p:normalViewPr>
  <p:slideViewPr>
    <p:cSldViewPr>
      <p:cViewPr>
        <p:scale>
          <a:sx n="100" d="100"/>
          <a:sy n="100" d="100"/>
        </p:scale>
        <p:origin x="72" y="-7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bit.ly/RetailMindAITeam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7560000" cy="10692000"/>
          </a:xfrm>
          <a:custGeom>
            <a:avLst/>
            <a:gdLst/>
            <a:ahLst/>
            <a:cxnLst/>
            <a:rect l="l" t="t" r="r" b="b"/>
            <a:pathLst>
              <a:path w="7560000" h="10692000">
                <a:moveTo>
                  <a:pt x="0" y="0"/>
                </a:moveTo>
                <a:lnTo>
                  <a:pt x="7560000" y="0"/>
                </a:lnTo>
                <a:lnTo>
                  <a:pt x="7560000" y="10692000"/>
                </a:lnTo>
                <a:lnTo>
                  <a:pt x="0" y="1069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11" t="-4099" r="-1511" b="-4099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1099298" y="756000"/>
            <a:ext cx="1197187" cy="225833"/>
          </a:xfrm>
          <a:custGeom>
            <a:avLst/>
            <a:gdLst/>
            <a:ahLst/>
            <a:cxnLst/>
            <a:rect l="l" t="t" r="r" b="b"/>
            <a:pathLst>
              <a:path w="1197187" h="225833">
                <a:moveTo>
                  <a:pt x="0" y="0"/>
                </a:moveTo>
                <a:lnTo>
                  <a:pt x="1197187" y="0"/>
                </a:lnTo>
                <a:lnTo>
                  <a:pt x="1197187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2548199" y="756000"/>
            <a:ext cx="519156" cy="225833"/>
          </a:xfrm>
          <a:custGeom>
            <a:avLst/>
            <a:gdLst/>
            <a:ahLst/>
            <a:cxnLst/>
            <a:rect l="l" t="t" r="r" b="b"/>
            <a:pathLst>
              <a:path w="519156" h="225833">
                <a:moveTo>
                  <a:pt x="0" y="0"/>
                </a:moveTo>
                <a:lnTo>
                  <a:pt x="519156" y="0"/>
                </a:lnTo>
                <a:lnTo>
                  <a:pt x="519156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3315005" y="756000"/>
            <a:ext cx="728085" cy="225833"/>
          </a:xfrm>
          <a:custGeom>
            <a:avLst/>
            <a:gdLst/>
            <a:ahLst/>
            <a:cxnLst/>
            <a:rect l="l" t="t" r="r" b="b"/>
            <a:pathLst>
              <a:path w="728085" h="225833">
                <a:moveTo>
                  <a:pt x="0" y="0"/>
                </a:moveTo>
                <a:lnTo>
                  <a:pt x="728086" y="0"/>
                </a:lnTo>
                <a:lnTo>
                  <a:pt x="728086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4290741" y="756000"/>
            <a:ext cx="422447" cy="225833"/>
          </a:xfrm>
          <a:custGeom>
            <a:avLst/>
            <a:gdLst/>
            <a:ahLst/>
            <a:cxnLst/>
            <a:rect l="l" t="t" r="r" b="b"/>
            <a:pathLst>
              <a:path w="422447" h="225833">
                <a:moveTo>
                  <a:pt x="0" y="0"/>
                </a:moveTo>
                <a:lnTo>
                  <a:pt x="422446" y="0"/>
                </a:lnTo>
                <a:lnTo>
                  <a:pt x="422446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4960837" y="756000"/>
            <a:ext cx="781729" cy="225833"/>
          </a:xfrm>
          <a:custGeom>
            <a:avLst/>
            <a:gdLst/>
            <a:ahLst/>
            <a:cxnLst/>
            <a:rect l="l" t="t" r="r" b="b"/>
            <a:pathLst>
              <a:path w="781729" h="225833">
                <a:moveTo>
                  <a:pt x="0" y="0"/>
                </a:moveTo>
                <a:lnTo>
                  <a:pt x="781730" y="0"/>
                </a:lnTo>
                <a:lnTo>
                  <a:pt x="781730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8" name="Group 8"/>
          <p:cNvGrpSpPr/>
          <p:nvPr/>
        </p:nvGrpSpPr>
        <p:grpSpPr>
          <a:xfrm>
            <a:off x="1222613" y="4693338"/>
            <a:ext cx="5114773" cy="652662"/>
            <a:chOff x="0" y="0"/>
            <a:chExt cx="6819698" cy="870217"/>
          </a:xfrm>
        </p:grpSpPr>
        <p:sp>
          <p:nvSpPr>
            <p:cNvPr id="9" name="Freeform 9"/>
            <p:cNvSpPr/>
            <p:nvPr/>
          </p:nvSpPr>
          <p:spPr>
            <a:xfrm>
              <a:off x="3255378" y="0"/>
              <a:ext cx="601698" cy="870217"/>
            </a:xfrm>
            <a:custGeom>
              <a:avLst/>
              <a:gdLst/>
              <a:ahLst/>
              <a:cxnLst/>
              <a:rect l="l" t="t" r="r" b="b"/>
              <a:pathLst>
                <a:path w="601698" h="870217">
                  <a:moveTo>
                    <a:pt x="0" y="0"/>
                  </a:moveTo>
                  <a:lnTo>
                    <a:pt x="601698" y="0"/>
                  </a:lnTo>
                  <a:lnTo>
                    <a:pt x="601698" y="870217"/>
                  </a:lnTo>
                  <a:lnTo>
                    <a:pt x="0" y="8702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611018" r="-592956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3975127" y="84686"/>
              <a:ext cx="2844570" cy="700844"/>
            </a:xfrm>
            <a:custGeom>
              <a:avLst/>
              <a:gdLst/>
              <a:ahLst/>
              <a:cxnLst/>
              <a:rect l="l" t="t" r="r" b="b"/>
              <a:pathLst>
                <a:path w="2844570" h="700844">
                  <a:moveTo>
                    <a:pt x="0" y="0"/>
                  </a:moveTo>
                  <a:lnTo>
                    <a:pt x="2844571" y="0"/>
                  </a:lnTo>
                  <a:lnTo>
                    <a:pt x="2844571" y="700844"/>
                  </a:lnTo>
                  <a:lnTo>
                    <a:pt x="0" y="7008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122138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3135922" cy="812019"/>
            </a:xfrm>
            <a:custGeom>
              <a:avLst/>
              <a:gdLst/>
              <a:ahLst/>
              <a:cxnLst/>
              <a:rect l="l" t="t" r="r" b="b"/>
              <a:pathLst>
                <a:path w="3135922" h="812019">
                  <a:moveTo>
                    <a:pt x="0" y="0"/>
                  </a:moveTo>
                  <a:lnTo>
                    <a:pt x="3135922" y="0"/>
                  </a:lnTo>
                  <a:lnTo>
                    <a:pt x="3135922" y="812019"/>
                  </a:lnTo>
                  <a:lnTo>
                    <a:pt x="0" y="812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32337" r="-1127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5990217" y="756000"/>
            <a:ext cx="470485" cy="225833"/>
          </a:xfrm>
          <a:custGeom>
            <a:avLst/>
            <a:gdLst/>
            <a:ahLst/>
            <a:cxnLst/>
            <a:rect l="l" t="t" r="r" b="b"/>
            <a:pathLst>
              <a:path w="470485" h="225833">
                <a:moveTo>
                  <a:pt x="0" y="0"/>
                </a:moveTo>
                <a:lnTo>
                  <a:pt x="470485" y="0"/>
                </a:lnTo>
                <a:lnTo>
                  <a:pt x="470485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967645" y="2447859"/>
            <a:ext cx="5624711" cy="886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9"/>
              </a:lnSpc>
            </a:pPr>
            <a:r>
              <a:rPr lang="en-US" sz="4863" dirty="0">
                <a:solidFill>
                  <a:srgbClr val="D9EEF6"/>
                </a:solidFill>
                <a:latin typeface="Mortend Bold"/>
                <a:ea typeface="Mortend Bold"/>
                <a:cs typeface="Mortend Bold"/>
                <a:sym typeface="Mortend Bold"/>
              </a:rPr>
              <a:t>proposal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7645" y="2222434"/>
            <a:ext cx="5602199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dirty="0">
                <a:solidFill>
                  <a:srgbClr val="D9EEF6"/>
                </a:solidFill>
                <a:latin typeface="Mortend Bold"/>
                <a:ea typeface="Mortend Bold"/>
                <a:cs typeface="Mortend Bold"/>
                <a:sym typeface="Mortend Bold"/>
              </a:rPr>
              <a:t>2nd submission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98134" y="8381441"/>
            <a:ext cx="5341220" cy="987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499" dirty="0" err="1">
                <a:solidFill>
                  <a:srgbClr val="E6EBF4"/>
                </a:solidFill>
                <a:latin typeface="Mortend Bold"/>
                <a:ea typeface="Mortend Bold"/>
                <a:cs typeface="Mortend Bold"/>
                <a:sym typeface="Mortend Bold"/>
              </a:rPr>
              <a:t>pusat</a:t>
            </a:r>
            <a:r>
              <a:rPr lang="en-US" sz="2499">
                <a:solidFill>
                  <a:srgbClr val="E6EBF4"/>
                </a:solidFill>
                <a:latin typeface="Mortend Bold"/>
                <a:ea typeface="Mortend Bold"/>
                <a:cs typeface="Mortend Bold"/>
                <a:sym typeface="Mortend Bold"/>
              </a:rPr>
              <a:t> inovasi </a:t>
            </a:r>
          </a:p>
          <a:p>
            <a:pPr algn="ctr">
              <a:lnSpc>
                <a:spcPts val="2499"/>
              </a:lnSpc>
            </a:pPr>
            <a:r>
              <a:rPr lang="en-US" sz="2499">
                <a:solidFill>
                  <a:srgbClr val="E6EBF4"/>
                </a:solidFill>
                <a:latin typeface="Mortend Bold"/>
                <a:ea typeface="Mortend Bold"/>
                <a:cs typeface="Mortend Bold"/>
                <a:sym typeface="Mortend Bold"/>
              </a:rPr>
              <a:t>digital indonesia</a:t>
            </a:r>
          </a:p>
          <a:p>
            <a:pPr algn="ctr">
              <a:lnSpc>
                <a:spcPts val="2499"/>
              </a:lnSpc>
            </a:pPr>
            <a:r>
              <a:rPr lang="en-US" sz="2499">
                <a:solidFill>
                  <a:srgbClr val="E6EBF4"/>
                </a:solidFill>
                <a:latin typeface="Mortend Bold"/>
                <a:ea typeface="Mortend Bold"/>
                <a:cs typeface="Mortend Bold"/>
                <a:sym typeface="Mortend Bold"/>
              </a:rPr>
              <a:t>2026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98134" y="5555342"/>
            <a:ext cx="5341220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US" sz="1500">
                <a:solidFill>
                  <a:srgbClr val="E6EBF4"/>
                </a:solidFill>
                <a:latin typeface="Mortend Bold"/>
                <a:ea typeface="Mortend Bold"/>
                <a:cs typeface="Mortend Bold"/>
                <a:sym typeface="Mortend Bold"/>
              </a:rPr>
              <a:t>berinovasi untuk masa depan,</a:t>
            </a:r>
          </a:p>
          <a:p>
            <a:pPr algn="ctr">
              <a:lnSpc>
                <a:spcPts val="1500"/>
              </a:lnSpc>
            </a:pPr>
            <a:r>
              <a:rPr lang="en-US" sz="1500">
                <a:solidFill>
                  <a:srgbClr val="E6EBF4"/>
                </a:solidFill>
                <a:latin typeface="Mortend Bold"/>
                <a:ea typeface="Mortend Bold"/>
                <a:cs typeface="Mortend Bold"/>
                <a:sym typeface="Mortend Bold"/>
              </a:rPr>
              <a:t>memberdayakan talenta digital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50333" y="1253850"/>
            <a:ext cx="4644093" cy="312179"/>
            <a:chOff x="0" y="0"/>
            <a:chExt cx="1300264" cy="874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0264" cy="87405"/>
            </a:xfrm>
            <a:custGeom>
              <a:avLst/>
              <a:gdLst/>
              <a:ahLst/>
              <a:cxnLst/>
              <a:rect l="l" t="t" r="r" b="b"/>
              <a:pathLst>
                <a:path w="1300264" h="87405">
                  <a:moveTo>
                    <a:pt x="0" y="0"/>
                  </a:moveTo>
                  <a:lnTo>
                    <a:pt x="1300264" y="0"/>
                  </a:lnTo>
                  <a:lnTo>
                    <a:pt x="1300264" y="87405"/>
                  </a:lnTo>
                  <a:lnTo>
                    <a:pt x="0" y="874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en-US" sz="1200" dirty="0"/>
                <a:t>Financial Freedom Tim</a:t>
              </a:r>
              <a:endParaRPr lang="id-ID" sz="120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00264" cy="1255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team identity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6000" y="1254999"/>
            <a:ext cx="770731" cy="252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Nama Tim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6000" y="1652100"/>
            <a:ext cx="1298108" cy="252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Nama Ketua Tim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150333" y="1650950"/>
            <a:ext cx="4644093" cy="312179"/>
            <a:chOff x="0" y="0"/>
            <a:chExt cx="1300264" cy="8740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00264" cy="87405"/>
            </a:xfrm>
            <a:custGeom>
              <a:avLst/>
              <a:gdLst/>
              <a:ahLst/>
              <a:cxnLst/>
              <a:rect l="l" t="t" r="r" b="b"/>
              <a:pathLst>
                <a:path w="1300264" h="87405">
                  <a:moveTo>
                    <a:pt x="0" y="0"/>
                  </a:moveTo>
                  <a:lnTo>
                    <a:pt x="1300264" y="0"/>
                  </a:lnTo>
                  <a:lnTo>
                    <a:pt x="1300264" y="87405"/>
                  </a:lnTo>
                  <a:lnTo>
                    <a:pt x="0" y="874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en-US" sz="1200" dirty="0"/>
                <a:t>Hamzah Arman Husni</a:t>
              </a:r>
              <a:endParaRPr lang="id-ID" sz="1200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00264" cy="1255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150333" y="2048854"/>
            <a:ext cx="4644093" cy="312179"/>
            <a:chOff x="0" y="0"/>
            <a:chExt cx="1300264" cy="8740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00264" cy="87405"/>
            </a:xfrm>
            <a:custGeom>
              <a:avLst/>
              <a:gdLst/>
              <a:ahLst/>
              <a:cxnLst/>
              <a:rect l="l" t="t" r="r" b="b"/>
              <a:pathLst>
                <a:path w="1300264" h="87405">
                  <a:moveTo>
                    <a:pt x="0" y="0"/>
                  </a:moveTo>
                  <a:lnTo>
                    <a:pt x="1300264" y="0"/>
                  </a:lnTo>
                  <a:lnTo>
                    <a:pt x="1300264" y="87405"/>
                  </a:lnTo>
                  <a:lnTo>
                    <a:pt x="0" y="874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en-US" sz="1200" dirty="0"/>
                <a:t>+6282328923953</a:t>
              </a:r>
              <a:endParaRPr lang="id-ID" sz="1200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300264" cy="1255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56000" y="2050004"/>
            <a:ext cx="824722" cy="252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Kontak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150333" y="3640470"/>
            <a:ext cx="4644093" cy="1024446"/>
            <a:chOff x="0" y="0"/>
            <a:chExt cx="1300264" cy="28682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00264" cy="286827"/>
            </a:xfrm>
            <a:custGeom>
              <a:avLst/>
              <a:gdLst/>
              <a:ahLst/>
              <a:cxnLst/>
              <a:rect l="l" t="t" r="r" b="b"/>
              <a:pathLst>
                <a:path w="1300264" h="286827">
                  <a:moveTo>
                    <a:pt x="0" y="0"/>
                  </a:moveTo>
                  <a:lnTo>
                    <a:pt x="1300264" y="0"/>
                  </a:lnTo>
                  <a:lnTo>
                    <a:pt x="1300264" y="286827"/>
                  </a:lnTo>
                  <a:lnTo>
                    <a:pt x="0" y="2868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228600" indent="-228600">
                <a:buAutoNum type="arabicPeriod"/>
              </a:pPr>
              <a:r>
                <a:rPr lang="en-US" sz="1200" dirty="0" err="1"/>
                <a:t>Dzaky</a:t>
              </a:r>
              <a:r>
                <a:rPr lang="en-US" sz="1200" dirty="0"/>
                <a:t> </a:t>
              </a:r>
              <a:r>
                <a:rPr lang="en-US" sz="1200" dirty="0" err="1"/>
                <a:t>Faishalariq</a:t>
              </a:r>
              <a:r>
                <a:rPr lang="en-US" sz="1200" dirty="0"/>
                <a:t>	          :  Developer</a:t>
              </a:r>
            </a:p>
            <a:p>
              <a:pPr marL="228600" indent="-228600">
                <a:buAutoNum type="arabicPeriod"/>
              </a:pPr>
              <a:r>
                <a:rPr lang="en-US" sz="1200" dirty="0"/>
                <a:t>Gregorius </a:t>
              </a:r>
              <a:r>
                <a:rPr lang="en-US" sz="1200" dirty="0" err="1"/>
                <a:t>Bugen</a:t>
              </a:r>
              <a:r>
                <a:rPr lang="en-US" sz="1200" dirty="0"/>
                <a:t> Jovi Sitindaon :  Marketing Strategist</a:t>
              </a:r>
            </a:p>
            <a:p>
              <a:pPr marL="228600" indent="-228600">
                <a:buAutoNum type="arabicPeriod"/>
              </a:pPr>
              <a:r>
                <a:rPr lang="en-US" sz="1200" dirty="0"/>
                <a:t>Aditya </a:t>
              </a:r>
              <a:r>
                <a:rPr lang="en-US" sz="1200" dirty="0" err="1"/>
                <a:t>Nurrohman</a:t>
              </a:r>
              <a:r>
                <a:rPr lang="en-US" sz="1200" dirty="0"/>
                <a:t>	          :  Automation </a:t>
              </a:r>
              <a:r>
                <a:rPr lang="en-US" sz="1200" dirty="0" err="1"/>
                <a:t>Spesialist</a:t>
              </a:r>
              <a:endParaRPr lang="en-US" sz="1200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300264" cy="324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/>
            </a:p>
            <a:p>
              <a:pPr algn="ctr">
                <a:lnSpc>
                  <a:spcPts val="1820"/>
                </a:lnSpc>
              </a:pPr>
              <a:endParaRPr/>
            </a:p>
            <a:p>
              <a:pPr algn="ctr">
                <a:lnSpc>
                  <a:spcPts val="1820"/>
                </a:lnSpc>
              </a:pPr>
              <a:endParaRPr/>
            </a:p>
            <a:p>
              <a:pPr algn="ctr">
                <a:lnSpc>
                  <a:spcPts val="182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756000" y="3641620"/>
            <a:ext cx="1298108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Nama Anggota Tim &amp; Peran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6000" y="4889500"/>
            <a:ext cx="6062362" cy="403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Ringkasan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Tim</a:t>
            </a: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Siapa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tim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Anda dan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kenapa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relevan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dengan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solusi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ini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?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56000" y="5473875"/>
            <a:ext cx="6146450" cy="1633746"/>
            <a:chOff x="0" y="-28575"/>
            <a:chExt cx="1720898" cy="914287"/>
          </a:xfrm>
        </p:grpSpPr>
        <p:sp>
          <p:nvSpPr>
            <p:cNvPr id="21" name="Freeform 21"/>
            <p:cNvSpPr/>
            <p:nvPr/>
          </p:nvSpPr>
          <p:spPr>
            <a:xfrm>
              <a:off x="0" y="6337"/>
              <a:ext cx="1720898" cy="750994"/>
            </a:xfrm>
            <a:custGeom>
              <a:avLst/>
              <a:gdLst/>
              <a:ahLst/>
              <a:cxnLst/>
              <a:rect l="l" t="t" r="r" b="b"/>
              <a:pathLst>
                <a:path w="1690653" h="885712">
                  <a:moveTo>
                    <a:pt x="0" y="0"/>
                  </a:moveTo>
                  <a:lnTo>
                    <a:pt x="1690653" y="0"/>
                  </a:lnTo>
                  <a:lnTo>
                    <a:pt x="1690653" y="885712"/>
                  </a:lnTo>
                  <a:lnTo>
                    <a:pt x="0" y="8857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/>
              <a:r>
                <a:rPr lang="en-US" sz="1200" dirty="0"/>
                <a:t>Financial Freedom Tim </a:t>
              </a:r>
              <a:r>
                <a:rPr lang="id-ID" sz="1200" dirty="0"/>
                <a:t>terdiri dari empat mahasiswa S2 </a:t>
              </a:r>
              <a:r>
                <a:rPr lang="id-ID" sz="1200" dirty="0" err="1"/>
                <a:t>Artificial</a:t>
              </a:r>
              <a:r>
                <a:rPr lang="id-ID" sz="1200" dirty="0"/>
                <a:t> </a:t>
              </a:r>
              <a:r>
                <a:rPr lang="id-ID" sz="1200" dirty="0" err="1"/>
                <a:t>Intelligence</a:t>
              </a:r>
              <a:r>
                <a:rPr lang="id-ID" sz="1200" dirty="0"/>
                <a:t> UGM yang berfokus pada problem data operasional retail </a:t>
              </a:r>
              <a:r>
                <a:rPr lang="id-ID" sz="1200" dirty="0" err="1"/>
                <a:t>FnB</a:t>
              </a:r>
              <a:r>
                <a:rPr lang="id-ID" sz="1200" dirty="0"/>
                <a:t> (Rp10–200 juta/bulan). Kami memiliki pengalaman akademik dan proyek dalam pengembangan AI serta pengolahan data. Melalui </a:t>
              </a:r>
              <a:r>
                <a:rPr lang="id-ID" sz="1200" dirty="0" err="1"/>
                <a:t>RetailMind</a:t>
              </a:r>
              <a:r>
                <a:rPr lang="id-ID" sz="1200" dirty="0"/>
                <a:t> AI, kami mengubah data operasional menjadi </a:t>
              </a:r>
              <a:r>
                <a:rPr lang="id-ID" sz="1200" dirty="0" err="1"/>
                <a:t>insight</a:t>
              </a:r>
              <a:r>
                <a:rPr lang="id-ID" sz="1200" dirty="0"/>
                <a:t> siap investasi. Dengan kombinasi kemampuan teknis dan pemahaman konteks bisnis lokal, kami merancang solusi yang sederhana, relevan, dan mudah diadopsi.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690653" cy="914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150333" y="2446758"/>
            <a:ext cx="4644093" cy="312179"/>
            <a:chOff x="0" y="0"/>
            <a:chExt cx="1300264" cy="8740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00264" cy="87405"/>
            </a:xfrm>
            <a:custGeom>
              <a:avLst/>
              <a:gdLst/>
              <a:ahLst/>
              <a:cxnLst/>
              <a:rect l="l" t="t" r="r" b="b"/>
              <a:pathLst>
                <a:path w="1300264" h="87405">
                  <a:moveTo>
                    <a:pt x="0" y="0"/>
                  </a:moveTo>
                  <a:lnTo>
                    <a:pt x="1300264" y="0"/>
                  </a:lnTo>
                  <a:lnTo>
                    <a:pt x="1300264" y="87405"/>
                  </a:lnTo>
                  <a:lnTo>
                    <a:pt x="0" y="874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en-US" sz="1200" dirty="0"/>
                <a:t>hamzaharmanhusni@mail.ugm.ac.id</a:t>
              </a:r>
              <a:endParaRPr lang="id-ID" sz="1200" dirty="0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300264" cy="1255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56000" y="2447908"/>
            <a:ext cx="508397" cy="252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Email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2150333" y="2844662"/>
            <a:ext cx="4644093" cy="312179"/>
            <a:chOff x="0" y="0"/>
            <a:chExt cx="1300264" cy="8740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300264" cy="87405"/>
            </a:xfrm>
            <a:custGeom>
              <a:avLst/>
              <a:gdLst/>
              <a:ahLst/>
              <a:cxnLst/>
              <a:rect l="l" t="t" r="r" b="b"/>
              <a:pathLst>
                <a:path w="1300264" h="87405">
                  <a:moveTo>
                    <a:pt x="0" y="0"/>
                  </a:moveTo>
                  <a:lnTo>
                    <a:pt x="1300264" y="0"/>
                  </a:lnTo>
                  <a:lnTo>
                    <a:pt x="1300264" y="87405"/>
                  </a:lnTo>
                  <a:lnTo>
                    <a:pt x="0" y="874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en-US" sz="1200" dirty="0"/>
                <a:t>Universitas Gadjah Mada</a:t>
              </a:r>
              <a:endParaRPr lang="id-ID" sz="1200" dirty="0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300264" cy="1255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756000" y="2845812"/>
            <a:ext cx="770731" cy="252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Institusi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2150333" y="3242566"/>
            <a:ext cx="4644093" cy="312179"/>
            <a:chOff x="0" y="0"/>
            <a:chExt cx="1300264" cy="8740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300264" cy="87405"/>
            </a:xfrm>
            <a:custGeom>
              <a:avLst/>
              <a:gdLst/>
              <a:ahLst/>
              <a:cxnLst/>
              <a:rect l="l" t="t" r="r" b="b"/>
              <a:pathLst>
                <a:path w="1300264" h="87405">
                  <a:moveTo>
                    <a:pt x="0" y="0"/>
                  </a:moveTo>
                  <a:lnTo>
                    <a:pt x="1300264" y="0"/>
                  </a:lnTo>
                  <a:lnTo>
                    <a:pt x="1300264" y="87405"/>
                  </a:lnTo>
                  <a:lnTo>
                    <a:pt x="0" y="874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id-ID" sz="1200" dirty="0">
                  <a:hlinkClick r:id="rId2"/>
                </a:rPr>
                <a:t>https://bit.ly/RetailMindAITeam</a:t>
              </a:r>
              <a:r>
                <a:rPr lang="en-US" sz="1200" dirty="0"/>
                <a:t> </a:t>
              </a:r>
              <a:endParaRPr lang="id-ID" sz="1200" dirty="0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300264" cy="1255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756000" y="3243716"/>
            <a:ext cx="1212205" cy="252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Link Portofolio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team identity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32064" y="1196700"/>
            <a:ext cx="6062362" cy="1591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Executive Summary Project</a:t>
            </a:r>
          </a:p>
          <a:p>
            <a:pPr algn="l">
              <a:lnSpc>
                <a:spcPts val="1820"/>
              </a:lnSpc>
            </a:pPr>
            <a:endParaRPr lang="en-US" sz="1300" dirty="0">
              <a:solidFill>
                <a:srgbClr val="0C2A52"/>
              </a:solidFill>
              <a:latin typeface="Oxanium"/>
              <a:ea typeface="Oxanium"/>
              <a:cs typeface="Oxanium"/>
              <a:sym typeface="Oxanium"/>
            </a:endParaRPr>
          </a:p>
          <a:p>
            <a:pPr algn="just">
              <a:lnSpc>
                <a:spcPts val="1820"/>
              </a:lnSpc>
            </a:pP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Jelaskan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ringkasan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eksekutif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proyek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Anda,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bagaimana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proyek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ini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mendukung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tema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Hackathon, dan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bagaimana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proyek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ini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dapat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memberikan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dampak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positif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bagi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ekonomi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digital dan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lanskap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keuangan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Indonesia.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Pastikan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untuk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menyertakan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problem statement yang Anda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coba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jawab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dengan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solusi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inovatif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Anda.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2064" y="2669160"/>
            <a:ext cx="6062361" cy="488733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2</a:t>
            </a: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C11CF09E-B301-38DB-048B-671D4AE3B91C}"/>
              </a:ext>
            </a:extLst>
          </p:cNvPr>
          <p:cNvSpPr/>
          <p:nvPr/>
        </p:nvSpPr>
        <p:spPr>
          <a:xfrm>
            <a:off x="732063" y="2984500"/>
            <a:ext cx="6062361" cy="2667000"/>
          </a:xfrm>
          <a:custGeom>
            <a:avLst/>
            <a:gdLst/>
            <a:ahLst/>
            <a:cxnLst/>
            <a:rect l="l" t="t" r="r" b="b"/>
            <a:pathLst>
              <a:path w="1700035" h="885712">
                <a:moveTo>
                  <a:pt x="0" y="0"/>
                </a:moveTo>
                <a:lnTo>
                  <a:pt x="1700035" y="0"/>
                </a:lnTo>
                <a:lnTo>
                  <a:pt x="1700035" y="885712"/>
                </a:lnTo>
                <a:lnTo>
                  <a:pt x="0" y="8857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/>
          <a:lstStyle/>
          <a:p>
            <a:pPr algn="just"/>
            <a:r>
              <a:rPr lang="id-ID" sz="1200" dirty="0" err="1"/>
              <a:t>RetailMind</a:t>
            </a:r>
            <a:r>
              <a:rPr lang="id-ID" sz="1200" dirty="0"/>
              <a:t> AI adalah platform Business </a:t>
            </a:r>
            <a:r>
              <a:rPr lang="id-ID" sz="1200" dirty="0" err="1"/>
              <a:t>Health</a:t>
            </a:r>
            <a:r>
              <a:rPr lang="id-ID" sz="1200" dirty="0"/>
              <a:t> </a:t>
            </a:r>
            <a:r>
              <a:rPr lang="id-ID" sz="1200" dirty="0" err="1"/>
              <a:t>Scoring</a:t>
            </a:r>
            <a:r>
              <a:rPr lang="id-ID" sz="1200" dirty="0"/>
              <a:t> yang mengubah data transaksi harian UMKM F&amp;B (omzet Rp10–200 juta/bulan) menjadi Investor </a:t>
            </a:r>
            <a:r>
              <a:rPr lang="id-ID" sz="1200" dirty="0" err="1"/>
              <a:t>Readiness</a:t>
            </a:r>
            <a:r>
              <a:rPr lang="id-ID" sz="1200" dirty="0"/>
              <a:t> </a:t>
            </a:r>
            <a:r>
              <a:rPr lang="id-ID" sz="1200" dirty="0" err="1"/>
              <a:t>Intelligence</a:t>
            </a:r>
            <a:r>
              <a:rPr lang="id-ID" sz="1200" dirty="0"/>
              <a:t> otomatis. Solusi menjawab dua kegagalan ekosistem: UMKM tak bisa membuktikan performa ke investor meski sudah digital, dan investor tak punya standar penilaian objektif.</a:t>
            </a:r>
            <a:endParaRPr lang="en-US" sz="1200" dirty="0"/>
          </a:p>
          <a:p>
            <a:pPr algn="just"/>
            <a:endParaRPr lang="id-ID" sz="1200" dirty="0"/>
          </a:p>
          <a:p>
            <a:pPr algn="just"/>
            <a:r>
              <a:rPr lang="id-ID" sz="1200" dirty="0"/>
              <a:t>Melalui tiga modul terintegrasi </a:t>
            </a:r>
            <a:r>
              <a:rPr lang="en-US" sz="1200" dirty="0" err="1"/>
              <a:t>yaitu</a:t>
            </a:r>
            <a:r>
              <a:rPr lang="en-US" sz="1200" dirty="0"/>
              <a:t> </a:t>
            </a:r>
            <a:r>
              <a:rPr lang="id-ID" sz="1200" dirty="0" err="1"/>
              <a:t>Smart</a:t>
            </a:r>
            <a:r>
              <a:rPr lang="id-ID" sz="1200" dirty="0"/>
              <a:t> Data </a:t>
            </a:r>
            <a:r>
              <a:rPr lang="id-ID" sz="1200" dirty="0" err="1"/>
              <a:t>Collection</a:t>
            </a:r>
            <a:r>
              <a:rPr lang="id-ID" sz="1200" dirty="0"/>
              <a:t> (POS + </a:t>
            </a:r>
            <a:r>
              <a:rPr lang="id-ID" sz="1200" dirty="0" err="1"/>
              <a:t>Cashbook</a:t>
            </a:r>
            <a:r>
              <a:rPr lang="id-ID" sz="1200" dirty="0"/>
              <a:t>), AI </a:t>
            </a:r>
            <a:r>
              <a:rPr lang="id-ID" sz="1200" dirty="0" err="1"/>
              <a:t>Analysis</a:t>
            </a:r>
            <a:r>
              <a:rPr lang="id-ID" sz="1200" dirty="0"/>
              <a:t> </a:t>
            </a:r>
            <a:r>
              <a:rPr lang="id-ID" sz="1200" dirty="0" err="1"/>
              <a:t>Engine</a:t>
            </a:r>
            <a:r>
              <a:rPr lang="id-ID" sz="1200" dirty="0"/>
              <a:t> (Business </a:t>
            </a:r>
            <a:r>
              <a:rPr lang="id-ID" sz="1200" dirty="0" err="1"/>
              <a:t>Health</a:t>
            </a:r>
            <a:r>
              <a:rPr lang="id-ID" sz="1200" dirty="0"/>
              <a:t> </a:t>
            </a:r>
            <a:r>
              <a:rPr lang="id-ID" sz="1200" dirty="0" err="1"/>
              <a:t>Score</a:t>
            </a:r>
            <a:r>
              <a:rPr lang="id-ID" sz="1200" dirty="0"/>
              <a:t> + AI </a:t>
            </a:r>
            <a:r>
              <a:rPr lang="id-ID" sz="1200" dirty="0" err="1"/>
              <a:t>Coach</a:t>
            </a:r>
            <a:r>
              <a:rPr lang="id-ID" sz="1200" dirty="0"/>
              <a:t> Rinda), dan Investor </a:t>
            </a:r>
            <a:r>
              <a:rPr lang="id-ID" sz="1200" dirty="0" err="1"/>
              <a:t>Dashboard</a:t>
            </a:r>
            <a:r>
              <a:rPr lang="en-US" sz="1200" dirty="0"/>
              <a:t>.</a:t>
            </a:r>
            <a:r>
              <a:rPr lang="id-ID" sz="1200" dirty="0"/>
              <a:t> </a:t>
            </a:r>
            <a:r>
              <a:rPr lang="en-US" sz="1200" dirty="0"/>
              <a:t>K</a:t>
            </a:r>
            <a:r>
              <a:rPr lang="id-ID" sz="1200" dirty="0"/>
              <a:t>ami menghasilkan Business </a:t>
            </a:r>
            <a:r>
              <a:rPr lang="id-ID" sz="1200" dirty="0" err="1"/>
              <a:t>Health</a:t>
            </a:r>
            <a:r>
              <a:rPr lang="id-ID" sz="1200" dirty="0"/>
              <a:t> </a:t>
            </a:r>
            <a:r>
              <a:rPr lang="id-ID" sz="1200" dirty="0" err="1"/>
              <a:t>Score</a:t>
            </a:r>
            <a:r>
              <a:rPr lang="id-ID" sz="1200" dirty="0"/>
              <a:t> (0–100) dan Investment </a:t>
            </a:r>
            <a:r>
              <a:rPr lang="id-ID" sz="1200" dirty="0" err="1"/>
              <a:t>Readiness</a:t>
            </a:r>
            <a:r>
              <a:rPr lang="id-ID" sz="1200" dirty="0"/>
              <a:t> </a:t>
            </a:r>
            <a:r>
              <a:rPr lang="id-ID" sz="1200" dirty="0" err="1"/>
              <a:t>Score</a:t>
            </a:r>
            <a:r>
              <a:rPr lang="id-ID" sz="1200" dirty="0"/>
              <a:t> (Low/Medium/</a:t>
            </a:r>
            <a:r>
              <a:rPr lang="id-ID" sz="1200" dirty="0" err="1"/>
              <a:t>High</a:t>
            </a:r>
            <a:r>
              <a:rPr lang="id-ID" sz="1200" dirty="0"/>
              <a:t>).</a:t>
            </a:r>
          </a:p>
          <a:p>
            <a:pPr algn="just"/>
            <a:endParaRPr lang="id-ID" sz="1200" dirty="0"/>
          </a:p>
          <a:p>
            <a:pPr algn="just"/>
            <a:r>
              <a:rPr lang="id-ID" sz="1200" dirty="0"/>
              <a:t>Penajaman dari </a:t>
            </a:r>
            <a:r>
              <a:rPr lang="id-ID" sz="1200" dirty="0" err="1"/>
              <a:t>submission</a:t>
            </a:r>
            <a:r>
              <a:rPr lang="id-ID" sz="1200" dirty="0"/>
              <a:t> pertama: status naik dari konsep menjadi </a:t>
            </a:r>
            <a:r>
              <a:rPr lang="id-ID" sz="1200" dirty="0" err="1"/>
              <a:t>working</a:t>
            </a:r>
            <a:r>
              <a:rPr lang="id-ID" sz="1200" dirty="0"/>
              <a:t> </a:t>
            </a:r>
            <a:r>
              <a:rPr lang="id-ID" sz="1200" dirty="0" err="1"/>
              <a:t>prototype</a:t>
            </a:r>
            <a:r>
              <a:rPr lang="id-ID" sz="1200" dirty="0"/>
              <a:t> dengan 6 modul berfungsi penuh, data UMKM F&amp;B Yogyakarta ter-</a:t>
            </a:r>
            <a:r>
              <a:rPr lang="id-ID" sz="1200" dirty="0" err="1"/>
              <a:t>seed</a:t>
            </a:r>
            <a:r>
              <a:rPr lang="id-ID" sz="1200" dirty="0"/>
              <a:t>, dan dapat didemonstrasikan </a:t>
            </a:r>
            <a:r>
              <a:rPr lang="id-ID" sz="1200" dirty="0" err="1"/>
              <a:t>live</a:t>
            </a:r>
            <a:r>
              <a:rPr lang="id-ID" sz="1200" dirty="0"/>
              <a:t> (data nyata → skor → keputusan investor). Dampaknya: membuka akses pembiayaan bagi UMKM layak dan mempercepat </a:t>
            </a:r>
            <a:r>
              <a:rPr lang="id-ID" sz="1200" dirty="0" err="1"/>
              <a:t>screening</a:t>
            </a:r>
            <a:r>
              <a:rPr lang="id-ID" sz="1200" dirty="0"/>
              <a:t> investor.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4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2A9AFB4-8DCA-5653-8DE0-9E08DF3AB585}"/>
              </a:ext>
            </a:extLst>
          </p:cNvPr>
          <p:cNvGrpSpPr/>
          <p:nvPr/>
        </p:nvGrpSpPr>
        <p:grpSpPr>
          <a:xfrm>
            <a:off x="756000" y="1765300"/>
            <a:ext cx="6048000" cy="613990"/>
            <a:chOff x="0" y="-28575"/>
            <a:chExt cx="1693333" cy="19879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E1C286E-3BEC-09A1-665F-F6E17D64EC21}"/>
                </a:ext>
              </a:extLst>
            </p:cNvPr>
            <p:cNvSpPr/>
            <p:nvPr/>
          </p:nvSpPr>
          <p:spPr>
            <a:xfrm>
              <a:off x="0" y="0"/>
              <a:ext cx="1693333" cy="131728"/>
            </a:xfrm>
            <a:custGeom>
              <a:avLst/>
              <a:gdLst/>
              <a:ahLst/>
              <a:cxnLst/>
              <a:rect l="l" t="t" r="r" b="b"/>
              <a:pathLst>
                <a:path w="1693333" h="170215">
                  <a:moveTo>
                    <a:pt x="0" y="0"/>
                  </a:moveTo>
                  <a:lnTo>
                    <a:pt x="1693333" y="0"/>
                  </a:lnTo>
                  <a:lnTo>
                    <a:pt x="1693333" y="170215"/>
                  </a:lnTo>
                  <a:lnTo>
                    <a:pt x="0" y="1702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id-ID" sz="1200" dirty="0"/>
                <a:t>Memperluas Investor Ritel (tema: Penguatan Ketahanan dan Inovasi Keuangan).</a:t>
              </a:r>
            </a:p>
          </p:txBody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5A10EE06-D9E7-4A5C-081D-4C1F3C7D5D89}"/>
                </a:ext>
              </a:extLst>
            </p:cNvPr>
            <p:cNvSpPr txBox="1"/>
            <p:nvPr/>
          </p:nvSpPr>
          <p:spPr>
            <a:xfrm>
              <a:off x="0" y="-28575"/>
              <a:ext cx="1693333" cy="1987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0" name="Group 5">
            <a:extLst>
              <a:ext uri="{FF2B5EF4-FFF2-40B4-BE49-F238E27FC236}">
                <a16:creationId xmlns:a16="http://schemas.microsoft.com/office/drawing/2014/main" id="{495EFC90-FEC2-81B2-6B63-358555B35920}"/>
              </a:ext>
            </a:extLst>
          </p:cNvPr>
          <p:cNvGrpSpPr/>
          <p:nvPr/>
        </p:nvGrpSpPr>
        <p:grpSpPr>
          <a:xfrm>
            <a:off x="746424" y="2865041"/>
            <a:ext cx="6057576" cy="1020871"/>
            <a:chOff x="-2681" y="-28575"/>
            <a:chExt cx="1696014" cy="268128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CAE4EF74-D4A7-50AC-B072-96319C876E8C}"/>
                </a:ext>
              </a:extLst>
            </p:cNvPr>
            <p:cNvSpPr/>
            <p:nvPr/>
          </p:nvSpPr>
          <p:spPr>
            <a:xfrm>
              <a:off x="-2681" y="-15777"/>
              <a:ext cx="1693333" cy="158673"/>
            </a:xfrm>
            <a:custGeom>
              <a:avLst/>
              <a:gdLst/>
              <a:ahLst/>
              <a:cxnLst/>
              <a:rect l="l" t="t" r="r" b="b"/>
              <a:pathLst>
                <a:path w="1693333" h="239553">
                  <a:moveTo>
                    <a:pt x="0" y="0"/>
                  </a:moveTo>
                  <a:lnTo>
                    <a:pt x="1693333" y="0"/>
                  </a:lnTo>
                  <a:lnTo>
                    <a:pt x="1693333" y="239553"/>
                  </a:lnTo>
                  <a:lnTo>
                    <a:pt x="0" y="2395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id-ID" sz="1050" dirty="0"/>
                <a:t>Memperluas Investor Ritel, dengan sub-fokus Asisten Keuangan Pribadi dan Analisis Perilaku Pasar: menyediakan standar data &amp; skor agar investor ritel/koperasi/BPR/</a:t>
              </a:r>
              <a:r>
                <a:rPr lang="id-ID" sz="1050" dirty="0" err="1"/>
                <a:t>fintech</a:t>
              </a:r>
              <a:r>
                <a:rPr lang="id-ID" sz="1050" dirty="0"/>
                <a:t> dapat menilai UMKM F&amp;B secara cepat dan objektif.</a:t>
              </a:r>
              <a:endParaRPr lang="en-US" sz="1050" dirty="0"/>
            </a:p>
          </p:txBody>
        </p:sp>
        <p:sp>
          <p:nvSpPr>
            <p:cNvPr id="12" name="TextBox 7">
              <a:extLst>
                <a:ext uri="{FF2B5EF4-FFF2-40B4-BE49-F238E27FC236}">
                  <a16:creationId xmlns:a16="http://schemas.microsoft.com/office/drawing/2014/main" id="{83552A8E-5C15-FFEA-54CE-766069258E83}"/>
                </a:ext>
              </a:extLst>
            </p:cNvPr>
            <p:cNvSpPr txBox="1"/>
            <p:nvPr/>
          </p:nvSpPr>
          <p:spPr>
            <a:xfrm>
              <a:off x="0" y="-28575"/>
              <a:ext cx="1693333" cy="2681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3" name="TextBox 11">
            <a:extLst>
              <a:ext uri="{FF2B5EF4-FFF2-40B4-BE49-F238E27FC236}">
                <a16:creationId xmlns:a16="http://schemas.microsoft.com/office/drawing/2014/main" id="{EBA52A83-F474-D578-8D3F-D67580A62EAE}"/>
              </a:ext>
            </a:extLst>
          </p:cNvPr>
          <p:cNvSpPr txBox="1"/>
          <p:nvPr/>
        </p:nvSpPr>
        <p:spPr>
          <a:xfrm>
            <a:off x="756000" y="679800"/>
            <a:ext cx="6048000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PROBLEM ALIGNMENT &amp; REFINEMENT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8A1A966B-271F-97FE-2E26-3D20F8A5D981}"/>
              </a:ext>
            </a:extLst>
          </p:cNvPr>
          <p:cNvSpPr txBox="1"/>
          <p:nvPr/>
        </p:nvSpPr>
        <p:spPr>
          <a:xfrm>
            <a:off x="756000" y="1360170"/>
            <a:ext cx="2411214" cy="252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Problem Statement yang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Dipilih</a:t>
            </a:r>
            <a:endParaRPr lang="en-US" sz="1300" dirty="0">
              <a:solidFill>
                <a:srgbClr val="0C2A52"/>
              </a:solidFill>
              <a:latin typeface="Oxanium"/>
              <a:ea typeface="Oxanium"/>
              <a:cs typeface="Oxanium"/>
              <a:sym typeface="Oxanium"/>
            </a:endParaRPr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A8272E31-D68B-D442-AC9B-87CAC82E8FF3}"/>
              </a:ext>
            </a:extLst>
          </p:cNvPr>
          <p:cNvSpPr txBox="1"/>
          <p:nvPr/>
        </p:nvSpPr>
        <p:spPr>
          <a:xfrm>
            <a:off x="756000" y="2394544"/>
            <a:ext cx="2354659" cy="437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b="1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Primary Sub-Problem Statement</a:t>
            </a:r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F408AC11-249F-97D6-69EE-4C7F8AF77A0F}"/>
              </a:ext>
            </a:extLst>
          </p:cNvPr>
          <p:cNvSpPr txBox="1"/>
          <p:nvPr/>
        </p:nvSpPr>
        <p:spPr>
          <a:xfrm>
            <a:off x="746424" y="3692177"/>
            <a:ext cx="4853781" cy="206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b="1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Problem Validation</a:t>
            </a:r>
          </a:p>
        </p:txBody>
      </p:sp>
      <p:grpSp>
        <p:nvGrpSpPr>
          <p:cNvPr id="17" name="Group 8">
            <a:extLst>
              <a:ext uri="{FF2B5EF4-FFF2-40B4-BE49-F238E27FC236}">
                <a16:creationId xmlns:a16="http://schemas.microsoft.com/office/drawing/2014/main" id="{19A5ACF0-E286-87F3-E347-E2575582D2EB}"/>
              </a:ext>
            </a:extLst>
          </p:cNvPr>
          <p:cNvGrpSpPr/>
          <p:nvPr/>
        </p:nvGrpSpPr>
        <p:grpSpPr>
          <a:xfrm>
            <a:off x="731237" y="3975100"/>
            <a:ext cx="6063187" cy="2438401"/>
            <a:chOff x="-4252" y="-707817"/>
            <a:chExt cx="1697585" cy="2191122"/>
          </a:xfrm>
        </p:grpSpPr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01364F6E-B664-2C3E-6D16-ED64DAEAEB0A}"/>
                </a:ext>
              </a:extLst>
            </p:cNvPr>
            <p:cNvSpPr/>
            <p:nvPr/>
          </p:nvSpPr>
          <p:spPr>
            <a:xfrm>
              <a:off x="-4252" y="-707817"/>
              <a:ext cx="1693333" cy="2191122"/>
            </a:xfrm>
            <a:custGeom>
              <a:avLst/>
              <a:gdLst/>
              <a:ahLst/>
              <a:cxnLst/>
              <a:rect l="l" t="t" r="r" b="b"/>
              <a:pathLst>
                <a:path w="1693333" h="1140942">
                  <a:moveTo>
                    <a:pt x="0" y="0"/>
                  </a:moveTo>
                  <a:lnTo>
                    <a:pt x="1693333" y="0"/>
                  </a:lnTo>
                  <a:lnTo>
                    <a:pt x="1693333" y="1140942"/>
                  </a:lnTo>
                  <a:lnTo>
                    <a:pt x="0" y="11409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/>
              <a:r>
                <a:rPr lang="id-ID" sz="1200" dirty="0"/>
                <a:t>Masalah inti: UMKM F&amp;B skala kecil–menengah (warung, kafe, </a:t>
              </a:r>
              <a:r>
                <a:rPr lang="id-ID" sz="1200" dirty="0" err="1"/>
                <a:t>bakery</a:t>
              </a:r>
              <a:r>
                <a:rPr lang="id-ID" sz="1200" dirty="0"/>
                <a:t>) di Yogyakarta sudah memakai POS/QRIS, tetapi datanya terfragmentasi, </a:t>
              </a:r>
              <a:r>
                <a:rPr lang="id-ID" sz="1200" dirty="0" err="1"/>
                <a:t>duplikatif</a:t>
              </a:r>
              <a:r>
                <a:rPr lang="id-ID" sz="1200" dirty="0"/>
                <a:t>, dan tak konsisten antar </a:t>
              </a:r>
              <a:r>
                <a:rPr lang="id-ID" sz="1200" dirty="0" err="1"/>
                <a:t>channel</a:t>
              </a:r>
              <a:r>
                <a:rPr lang="id-ID" sz="1200" dirty="0"/>
                <a:t> — sehingga tidak mampu menyajikan laporan performa yang terstruktur dan </a:t>
              </a:r>
              <a:r>
                <a:rPr lang="id-ID" sz="1200" dirty="0" err="1"/>
                <a:t>terverifikasi</a:t>
              </a:r>
              <a:r>
                <a:rPr lang="id-ID" sz="1200" dirty="0"/>
                <a:t>. Akar penyebabnya adalah data </a:t>
              </a:r>
              <a:r>
                <a:rPr lang="id-ID" sz="1200" dirty="0" err="1"/>
                <a:t>readiness</a:t>
              </a:r>
              <a:r>
                <a:rPr lang="id-ID" sz="1200" dirty="0"/>
                <a:t>, bukan ketiadaan digitalisasi. Akibatnya investor dan lembaga pembiayaan tidak percaya, dan peluang pendanaan gagal meski bisnis layak.</a:t>
              </a:r>
              <a:endParaRPr lang="en-US" sz="1200" dirty="0"/>
            </a:p>
            <a:p>
              <a:pPr algn="just"/>
              <a:endParaRPr lang="id-ID" sz="1200" dirty="0"/>
            </a:p>
            <a:p>
              <a:pPr algn="just"/>
              <a:r>
                <a:rPr lang="id-ID" sz="1200" dirty="0"/>
                <a:t>Bukti: riset lapangan tim ke 15 UMKM F&amp;B Yogyakarta — 100% tidak mampu menyajikan data </a:t>
              </a:r>
              <a:r>
                <a:rPr lang="id-ID" sz="1200" dirty="0" err="1"/>
                <a:t>terverifikasi</a:t>
              </a:r>
              <a:r>
                <a:rPr lang="id-ID" sz="1200" dirty="0"/>
                <a:t> 12 bulan terakhir; 77% UMKM mencatat manual/semi-manual (OCBC &amp; </a:t>
              </a:r>
              <a:r>
                <a:rPr lang="id-ID" sz="1200" dirty="0" err="1"/>
                <a:t>NielsenIQ</a:t>
              </a:r>
              <a:r>
                <a:rPr lang="id-ID" sz="1200" dirty="0"/>
                <a:t> 2024); hanya ~19% punya laporan keuangan diterima lembaga formal (OJK); 69,5% UMKM belum mengakses kredit (Kementerian UMKM 2025). Masalah ini penting karena UMKM menyumbang ~60% PDB nasional namun tertahan gap pembiayaan ≈Rp2.400 triliun (selisih kebutuhan vs pasokan, </a:t>
              </a:r>
              <a:r>
                <a:rPr lang="id-ID" sz="1200" dirty="0" err="1"/>
                <a:t>Kemenko</a:t>
              </a:r>
              <a:r>
                <a:rPr lang="id-ID" sz="1200" dirty="0"/>
                <a:t> Perekonomian; setara USD 234 miliar, IFC).</a:t>
              </a:r>
            </a:p>
          </p:txBody>
        </p:sp>
        <p:sp>
          <p:nvSpPr>
            <p:cNvPr id="19" name="TextBox 10">
              <a:extLst>
                <a:ext uri="{FF2B5EF4-FFF2-40B4-BE49-F238E27FC236}">
                  <a16:creationId xmlns:a16="http://schemas.microsoft.com/office/drawing/2014/main" id="{D199284B-1039-8FD4-5290-D45B4680AB93}"/>
                </a:ext>
              </a:extLst>
            </p:cNvPr>
            <p:cNvSpPr txBox="1"/>
            <p:nvPr/>
          </p:nvSpPr>
          <p:spPr>
            <a:xfrm>
              <a:off x="0" y="-28575"/>
              <a:ext cx="1693333" cy="11695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746425" y="1993900"/>
            <a:ext cx="6033638" cy="117813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PROBLEM ALIGNMENT &amp; REFINEMENT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6425" y="1393190"/>
            <a:ext cx="3739853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500" b="1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Problem–Solution Mapping  (maks 180 kata)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7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A20E0B2-C651-A593-7F03-B268400B1CF4}"/>
              </a:ext>
            </a:extLst>
          </p:cNvPr>
          <p:cNvSpPr/>
          <p:nvPr/>
        </p:nvSpPr>
        <p:spPr>
          <a:xfrm>
            <a:off x="746425" y="1917700"/>
            <a:ext cx="6033638" cy="2895600"/>
          </a:xfrm>
          <a:custGeom>
            <a:avLst/>
            <a:gdLst/>
            <a:ahLst/>
            <a:cxnLst/>
            <a:rect l="l" t="t" r="r" b="b"/>
            <a:pathLst>
              <a:path w="1689312" h="1210280">
                <a:moveTo>
                  <a:pt x="0" y="0"/>
                </a:moveTo>
                <a:lnTo>
                  <a:pt x="1689312" y="0"/>
                </a:lnTo>
                <a:lnTo>
                  <a:pt x="1689312" y="1210280"/>
                </a:lnTo>
                <a:lnTo>
                  <a:pt x="0" y="12102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/>
          <a:lstStyle/>
          <a:p>
            <a:r>
              <a:rPr lang="id-ID" sz="1100" dirty="0">
                <a:highlight>
                  <a:srgbClr val="FF0000"/>
                </a:highlight>
              </a:rPr>
              <a:t>Alur masalah → fitur/pendekatan → hasil: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>
                <a:highlight>
                  <a:srgbClr val="FF0000"/>
                </a:highlight>
              </a:rPr>
              <a:t>Data terfragmentasi antar </a:t>
            </a:r>
            <a:r>
              <a:rPr lang="id-ID" sz="1100" dirty="0" err="1">
                <a:highlight>
                  <a:srgbClr val="FF0000"/>
                </a:highlight>
              </a:rPr>
              <a:t>channel</a:t>
            </a:r>
            <a:r>
              <a:rPr lang="id-ID" sz="1100" dirty="0">
                <a:highlight>
                  <a:srgbClr val="FF0000"/>
                </a:highlight>
              </a:rPr>
              <a:t> → </a:t>
            </a:r>
            <a:r>
              <a:rPr lang="id-ID" sz="1100" dirty="0" err="1">
                <a:highlight>
                  <a:srgbClr val="FF0000"/>
                </a:highlight>
              </a:rPr>
              <a:t>Smart</a:t>
            </a:r>
            <a:r>
              <a:rPr lang="id-ID" sz="1100" dirty="0">
                <a:highlight>
                  <a:srgbClr val="FF0000"/>
                </a:highlight>
              </a:rPr>
              <a:t> POS + </a:t>
            </a:r>
            <a:r>
              <a:rPr lang="id-ID" sz="1100" dirty="0" err="1">
                <a:highlight>
                  <a:srgbClr val="FF0000"/>
                </a:highlight>
              </a:rPr>
              <a:t>Smart</a:t>
            </a:r>
            <a:r>
              <a:rPr lang="id-ID" sz="1100" dirty="0">
                <a:highlight>
                  <a:srgbClr val="FF0000"/>
                </a:highlight>
              </a:rPr>
              <a:t> </a:t>
            </a:r>
            <a:r>
              <a:rPr lang="id-ID" sz="1100" dirty="0" err="1">
                <a:highlight>
                  <a:srgbClr val="FF0000"/>
                </a:highlight>
              </a:rPr>
              <a:t>Cashbook</a:t>
            </a:r>
            <a:r>
              <a:rPr lang="id-ID" sz="1100" dirty="0">
                <a:highlight>
                  <a:srgbClr val="FF0000"/>
                </a:highlight>
              </a:rPr>
              <a:t> (satu sumber data harian) → </a:t>
            </a:r>
            <a:r>
              <a:rPr lang="id-ID" sz="1100" dirty="0" err="1">
                <a:highlight>
                  <a:srgbClr val="FF0000"/>
                </a:highlight>
              </a:rPr>
              <a:t>dataset</a:t>
            </a:r>
            <a:r>
              <a:rPr lang="id-ID" sz="1100" dirty="0">
                <a:highlight>
                  <a:srgbClr val="FF0000"/>
                </a:highlight>
              </a:rPr>
              <a:t> bersih &amp; konsisten.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>
                <a:highlight>
                  <a:srgbClr val="FF0000"/>
                </a:highlight>
              </a:rPr>
              <a:t>Tak bisa membuktikan performa → Business </a:t>
            </a:r>
            <a:r>
              <a:rPr lang="id-ID" sz="1100" dirty="0" err="1">
                <a:highlight>
                  <a:srgbClr val="FF0000"/>
                </a:highlight>
              </a:rPr>
              <a:t>Health</a:t>
            </a:r>
            <a:r>
              <a:rPr lang="id-ID" sz="1100" dirty="0">
                <a:highlight>
                  <a:srgbClr val="FF0000"/>
                </a:highlight>
              </a:rPr>
              <a:t> </a:t>
            </a:r>
            <a:r>
              <a:rPr lang="id-ID" sz="1100" dirty="0" err="1">
                <a:highlight>
                  <a:srgbClr val="FF0000"/>
                </a:highlight>
              </a:rPr>
              <a:t>Score</a:t>
            </a:r>
            <a:r>
              <a:rPr lang="id-ID" sz="1100" dirty="0">
                <a:highlight>
                  <a:srgbClr val="FF0000"/>
                </a:highlight>
              </a:rPr>
              <a:t> 0–100 (6 komponen) → bukti kesehatan bisnis terukur.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>
                <a:highlight>
                  <a:srgbClr val="FF0000"/>
                </a:highlight>
              </a:rPr>
              <a:t>•	Investor tak punya standar objektif → Investment </a:t>
            </a:r>
            <a:r>
              <a:rPr lang="id-ID" sz="1100" dirty="0" err="1">
                <a:highlight>
                  <a:srgbClr val="FF0000"/>
                </a:highlight>
              </a:rPr>
              <a:t>Readiness</a:t>
            </a:r>
            <a:r>
              <a:rPr lang="id-ID" sz="1100" dirty="0">
                <a:highlight>
                  <a:srgbClr val="FF0000"/>
                </a:highlight>
              </a:rPr>
              <a:t> </a:t>
            </a:r>
            <a:r>
              <a:rPr lang="id-ID" sz="1100" dirty="0" err="1">
                <a:highlight>
                  <a:srgbClr val="FF0000"/>
                </a:highlight>
              </a:rPr>
              <a:t>Score</a:t>
            </a:r>
            <a:r>
              <a:rPr lang="id-ID" sz="1100" dirty="0">
                <a:highlight>
                  <a:srgbClr val="FF0000"/>
                </a:highlight>
              </a:rPr>
              <a:t> + Investor </a:t>
            </a:r>
            <a:r>
              <a:rPr lang="id-ID" sz="1100" dirty="0" err="1">
                <a:highlight>
                  <a:srgbClr val="FF0000"/>
                </a:highlight>
              </a:rPr>
              <a:t>Dashboard</a:t>
            </a:r>
            <a:r>
              <a:rPr lang="id-ID" sz="1100" dirty="0">
                <a:highlight>
                  <a:srgbClr val="FF0000"/>
                </a:highlight>
              </a:rPr>
              <a:t> → </a:t>
            </a:r>
            <a:r>
              <a:rPr lang="id-ID" sz="1100" dirty="0" err="1">
                <a:highlight>
                  <a:srgbClr val="FF0000"/>
                </a:highlight>
              </a:rPr>
              <a:t>screening</a:t>
            </a:r>
            <a:r>
              <a:rPr lang="id-ID" sz="1100" dirty="0">
                <a:highlight>
                  <a:srgbClr val="FF0000"/>
                </a:highlight>
              </a:rPr>
              <a:t> cepat &amp; terbanding.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>
                <a:highlight>
                  <a:srgbClr val="FF0000"/>
                </a:highlight>
              </a:rPr>
              <a:t>•	Due </a:t>
            </a:r>
            <a:r>
              <a:rPr lang="id-ID" sz="1100" dirty="0" err="1">
                <a:highlight>
                  <a:srgbClr val="FF0000"/>
                </a:highlight>
              </a:rPr>
              <a:t>diligence</a:t>
            </a:r>
            <a:r>
              <a:rPr lang="id-ID" sz="1100" dirty="0">
                <a:highlight>
                  <a:srgbClr val="FF0000"/>
                </a:highlight>
              </a:rPr>
              <a:t> mahal &amp; lambat → ringkasan skor, tren 90 hari, </a:t>
            </a:r>
            <a:r>
              <a:rPr lang="id-ID" sz="1100" dirty="0" err="1">
                <a:highlight>
                  <a:srgbClr val="FF0000"/>
                </a:highlight>
              </a:rPr>
              <a:t>risk</a:t>
            </a:r>
            <a:r>
              <a:rPr lang="id-ID" sz="1100" dirty="0">
                <a:highlight>
                  <a:srgbClr val="FF0000"/>
                </a:highlight>
              </a:rPr>
              <a:t> </a:t>
            </a:r>
            <a:r>
              <a:rPr lang="id-ID" sz="1100" dirty="0" err="1">
                <a:highlight>
                  <a:srgbClr val="FF0000"/>
                </a:highlight>
              </a:rPr>
              <a:t>flags</a:t>
            </a:r>
            <a:r>
              <a:rPr lang="id-ID" sz="1100" dirty="0">
                <a:highlight>
                  <a:srgbClr val="FF0000"/>
                </a:highlight>
              </a:rPr>
              <a:t> + proposal PDF 1-klik → keputusan dalam menit.</a:t>
            </a:r>
            <a:endParaRPr lang="en-US" sz="1100" dirty="0">
              <a:highlight>
                <a:srgbClr val="FF0000"/>
              </a:highlight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>
                <a:highlight>
                  <a:srgbClr val="FF0000"/>
                </a:highlight>
              </a:rPr>
              <a:t>•	UMKM tak tahu cara memperbaiki → AI </a:t>
            </a:r>
            <a:r>
              <a:rPr lang="id-ID" sz="1100" dirty="0" err="1">
                <a:highlight>
                  <a:srgbClr val="FF0000"/>
                </a:highlight>
              </a:rPr>
              <a:t>Coach</a:t>
            </a:r>
            <a:r>
              <a:rPr lang="id-ID" sz="1100" dirty="0">
                <a:highlight>
                  <a:srgbClr val="FF0000"/>
                </a:highlight>
              </a:rPr>
              <a:t> Rinda (</a:t>
            </a:r>
            <a:r>
              <a:rPr lang="id-ID" sz="1100" dirty="0" err="1">
                <a:highlight>
                  <a:srgbClr val="FF0000"/>
                </a:highlight>
              </a:rPr>
              <a:t>insight</a:t>
            </a:r>
            <a:r>
              <a:rPr lang="id-ID" sz="1100" dirty="0">
                <a:highlight>
                  <a:srgbClr val="FF0000"/>
                </a:highlight>
              </a:rPr>
              <a:t> </a:t>
            </a:r>
            <a:r>
              <a:rPr lang="id-ID" sz="1100" dirty="0" err="1">
                <a:highlight>
                  <a:srgbClr val="FF0000"/>
                </a:highlight>
              </a:rPr>
              <a:t>actionable</a:t>
            </a:r>
            <a:r>
              <a:rPr lang="id-ID" sz="1100" dirty="0">
                <a:highlight>
                  <a:srgbClr val="FF0000"/>
                </a:highlight>
              </a:rPr>
              <a:t> Bahasa Indonesia) → langkah konkret menaikkan skor.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>
                <a:highlight>
                  <a:srgbClr val="FF0000"/>
                </a:highlight>
              </a:rPr>
              <a:t>•	Data rawan tidak valid → </a:t>
            </a:r>
            <a:r>
              <a:rPr lang="id-ID" sz="1100" dirty="0" err="1">
                <a:highlight>
                  <a:srgbClr val="FF0000"/>
                </a:highlight>
              </a:rPr>
              <a:t>guardrail</a:t>
            </a:r>
            <a:r>
              <a:rPr lang="id-ID" sz="1100" dirty="0">
                <a:highlight>
                  <a:srgbClr val="FF0000"/>
                </a:highlight>
              </a:rPr>
              <a:t> kualitas (skor hanya dihitung bila data ≥60% lengkap) → angka </a:t>
            </a:r>
            <a:r>
              <a:rPr lang="id-ID" sz="1100" dirty="0" err="1">
                <a:highlight>
                  <a:srgbClr val="FF0000"/>
                </a:highlight>
              </a:rPr>
              <a:t>tepercaya</a:t>
            </a:r>
            <a:r>
              <a:rPr lang="id-ID" sz="1100" dirty="0">
                <a:highlight>
                  <a:srgbClr val="FF0000"/>
                </a:highlight>
              </a:rPr>
              <a:t>.</a:t>
            </a:r>
          </a:p>
          <a:p>
            <a:endParaRPr lang="en-US" sz="1100" dirty="0">
              <a:highlight>
                <a:srgbClr val="FF0000"/>
              </a:highlight>
            </a:endParaRPr>
          </a:p>
          <a:p>
            <a:r>
              <a:rPr lang="id-ID" sz="1100" dirty="0">
                <a:highlight>
                  <a:srgbClr val="FF0000"/>
                </a:highlight>
              </a:rPr>
              <a:t>Setiap fitur inti menjawab satu masalah spesifik yang sudah divalidasi, sehingga rantai problem–solusi–</a:t>
            </a:r>
            <a:r>
              <a:rPr lang="id-ID" sz="1100" dirty="0" err="1">
                <a:highlight>
                  <a:srgbClr val="FF0000"/>
                </a:highlight>
              </a:rPr>
              <a:t>outcome</a:t>
            </a:r>
            <a:r>
              <a:rPr lang="id-ID" sz="1100" dirty="0">
                <a:highlight>
                  <a:srgbClr val="FF0000"/>
                </a:highlight>
              </a:rPr>
              <a:t> saling terhubung.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id-ID" sz="1100" dirty="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746425" y="1993900"/>
            <a:ext cx="6033638" cy="117813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PROBLEM ALIGNMENT &amp; REFINEMENT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6425" y="1393190"/>
            <a:ext cx="3739853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500" b="1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Ecosystem Alignment  (maks 150 kata)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8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A20E0B2-C651-A593-7F03-B268400B1CF4}"/>
              </a:ext>
            </a:extLst>
          </p:cNvPr>
          <p:cNvSpPr/>
          <p:nvPr/>
        </p:nvSpPr>
        <p:spPr>
          <a:xfrm>
            <a:off x="746425" y="1917700"/>
            <a:ext cx="6033638" cy="2362200"/>
          </a:xfrm>
          <a:custGeom>
            <a:avLst/>
            <a:gdLst/>
            <a:ahLst/>
            <a:cxnLst/>
            <a:rect l="l" t="t" r="r" b="b"/>
            <a:pathLst>
              <a:path w="1689312" h="1210280">
                <a:moveTo>
                  <a:pt x="0" y="0"/>
                </a:moveTo>
                <a:lnTo>
                  <a:pt x="1689312" y="0"/>
                </a:lnTo>
                <a:lnTo>
                  <a:pt x="1689312" y="1210280"/>
                </a:lnTo>
                <a:lnTo>
                  <a:pt x="0" y="12102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/>
          <a:lstStyle/>
          <a:p>
            <a:r>
              <a:rPr lang="id-ID" sz="1100" dirty="0" err="1"/>
              <a:t>RetailMind</a:t>
            </a:r>
            <a:r>
              <a:rPr lang="id-ID" sz="1100" dirty="0"/>
              <a:t> AI menempel pada infrastruktur keuangan digital yang sudah ada: mengolah data transaksi/QRIS yang kini dipakai 32+ juta </a:t>
            </a:r>
            <a:r>
              <a:rPr lang="id-ID" sz="1100" dirty="0" err="1"/>
              <a:t>merchant</a:t>
            </a:r>
            <a:r>
              <a:rPr lang="id-ID" sz="1100" dirty="0"/>
              <a:t> (mayoritas UMKM) menjadi penilaian bisnis. Solusi selaras dengan agenda inklusi keuangan Bank Indonesia dan arah </a:t>
            </a:r>
            <a:r>
              <a:rPr lang="id-ID" sz="1100" dirty="0" err="1"/>
              <a:t>Innovative</a:t>
            </a:r>
            <a:r>
              <a:rPr lang="id-ID" sz="1100" dirty="0"/>
              <a:t> </a:t>
            </a:r>
            <a:r>
              <a:rPr lang="id-ID" sz="1100" dirty="0" err="1"/>
              <a:t>Credit</a:t>
            </a:r>
            <a:r>
              <a:rPr lang="id-ID" sz="1100" dirty="0"/>
              <a:t> </a:t>
            </a:r>
            <a:r>
              <a:rPr lang="id-ID" sz="1100" dirty="0" err="1"/>
              <a:t>Scoring</a:t>
            </a:r>
            <a:r>
              <a:rPr lang="id-ID" sz="1100" dirty="0"/>
              <a:t> (ICS) OJK yang mendorong pemanfaatan data alternatif (transaksi digital) untuk penilaian kredit, serta target memperbesar UMKM dengan laporan formal.</a:t>
            </a:r>
            <a:endParaRPr lang="en-US" sz="1100" dirty="0"/>
          </a:p>
          <a:p>
            <a:endParaRPr lang="id-ID" sz="1100" dirty="0"/>
          </a:p>
          <a:p>
            <a:r>
              <a:rPr lang="id-ID" sz="1100" dirty="0" err="1"/>
              <a:t>Stakeholder</a:t>
            </a:r>
            <a:r>
              <a:rPr lang="id-ID" sz="1100" dirty="0"/>
              <a:t>: UMKM F&amp;B (sumber &amp; pengguna data), investor ritel/koperasi/BPR/</a:t>
            </a:r>
            <a:r>
              <a:rPr lang="id-ID" sz="1100" dirty="0" err="1"/>
              <a:t>fintech</a:t>
            </a:r>
            <a:r>
              <a:rPr lang="id-ID" sz="1100" dirty="0"/>
              <a:t> P2P (pengguna skor), platform </a:t>
            </a:r>
            <a:r>
              <a:rPr lang="id-ID" sz="1100" dirty="0" err="1"/>
              <a:t>marketplace</a:t>
            </a:r>
            <a:r>
              <a:rPr lang="id-ID" sz="1100" dirty="0"/>
              <a:t> (</a:t>
            </a:r>
            <a:r>
              <a:rPr lang="id-ID" sz="1100" dirty="0" err="1"/>
              <a:t>GoFood</a:t>
            </a:r>
            <a:r>
              <a:rPr lang="id-ID" sz="1100" dirty="0"/>
              <a:t>/</a:t>
            </a:r>
            <a:r>
              <a:rPr lang="id-ID" sz="1100" dirty="0" err="1"/>
              <a:t>GrabFood</a:t>
            </a:r>
            <a:r>
              <a:rPr lang="id-ID" sz="1100" dirty="0"/>
              <a:t>) sebagai sumber data, dan regulator (BI/OJK) untuk keselarasan ekosistem.</a:t>
            </a:r>
            <a:endParaRPr lang="en-US" sz="1100" dirty="0"/>
          </a:p>
          <a:p>
            <a:endParaRPr lang="id-ID" sz="1100" dirty="0"/>
          </a:p>
          <a:p>
            <a:r>
              <a:rPr lang="id-ID" sz="1100" dirty="0"/>
              <a:t>Batasan implementasi: kualitas skor bergantung kelengkapan data UMKM; integrasi </a:t>
            </a:r>
            <a:r>
              <a:rPr lang="id-ID" sz="1100" dirty="0" err="1"/>
              <a:t>marketplace</a:t>
            </a:r>
            <a:r>
              <a:rPr lang="id-ID" sz="1100" dirty="0"/>
              <a:t> butuh kerja sama API; penampilan profil ke investor butuh persetujuan UMKM; kepatuhan UU PDP wajib sejak awal.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746425" y="1993900"/>
            <a:ext cx="6033638" cy="117813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SOLUTION &amp; IMPACT DEEP DIVE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6425" y="1164590"/>
            <a:ext cx="3739853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500" b="1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Solution Approach &amp; Mechanism  (maks 250 kata)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9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A20E0B2-C651-A593-7F03-B268400B1CF4}"/>
              </a:ext>
            </a:extLst>
          </p:cNvPr>
          <p:cNvSpPr/>
          <p:nvPr/>
        </p:nvSpPr>
        <p:spPr>
          <a:xfrm>
            <a:off x="746425" y="1917700"/>
            <a:ext cx="6033638" cy="3962400"/>
          </a:xfrm>
          <a:custGeom>
            <a:avLst/>
            <a:gdLst/>
            <a:ahLst/>
            <a:cxnLst/>
            <a:rect l="l" t="t" r="r" b="b"/>
            <a:pathLst>
              <a:path w="1689312" h="1210280">
                <a:moveTo>
                  <a:pt x="0" y="0"/>
                </a:moveTo>
                <a:lnTo>
                  <a:pt x="1689312" y="0"/>
                </a:lnTo>
                <a:lnTo>
                  <a:pt x="1689312" y="1210280"/>
                </a:lnTo>
                <a:lnTo>
                  <a:pt x="0" y="12102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/>
          <a:lstStyle/>
          <a:p>
            <a:pPr algn="just"/>
            <a:r>
              <a:rPr lang="id-ID" sz="1100" dirty="0"/>
              <a:t>INPUT — UMKM mencatat lewat </a:t>
            </a:r>
            <a:r>
              <a:rPr lang="id-ID" sz="1100" dirty="0" err="1"/>
              <a:t>Smart</a:t>
            </a:r>
            <a:r>
              <a:rPr lang="id-ID" sz="1100" dirty="0"/>
              <a:t> POS (transaksi, produk, stok, metode bayar termasuk QRIS) dan </a:t>
            </a:r>
            <a:r>
              <a:rPr lang="id-ID" sz="1100" dirty="0" err="1"/>
              <a:t>Smart</a:t>
            </a:r>
            <a:r>
              <a:rPr lang="id-ID" sz="1100" dirty="0"/>
              <a:t> </a:t>
            </a:r>
            <a:r>
              <a:rPr lang="id-ID" sz="1100" dirty="0" err="1"/>
              <a:t>Cashbook</a:t>
            </a:r>
            <a:r>
              <a:rPr lang="id-ID" sz="1100" dirty="0"/>
              <a:t> (pemasukan, pengeluaran, hutang, piutang). Impor CSV/Google </a:t>
            </a:r>
            <a:r>
              <a:rPr lang="id-ID" sz="1100" dirty="0" err="1"/>
              <a:t>Sheets</a:t>
            </a:r>
            <a:r>
              <a:rPr lang="id-ID" sz="1100" dirty="0"/>
              <a:t> tersedia untuk migrasi data lama.</a:t>
            </a:r>
            <a:endParaRPr lang="en-US" sz="1100" dirty="0"/>
          </a:p>
          <a:p>
            <a:pPr algn="just"/>
            <a:endParaRPr lang="id-ID" sz="1100" dirty="0"/>
          </a:p>
          <a:p>
            <a:pPr algn="just"/>
            <a:r>
              <a:rPr lang="id-ID" sz="1100" dirty="0"/>
              <a:t>PROSES — sistem memvalidasi &amp; membersihkan data, mendeteksi anomali, lalu </a:t>
            </a:r>
            <a:r>
              <a:rPr lang="id-ID" sz="1100" dirty="0" err="1"/>
              <a:t>Scoring</a:t>
            </a:r>
            <a:r>
              <a:rPr lang="id-ID" sz="1100" dirty="0"/>
              <a:t> </a:t>
            </a:r>
            <a:r>
              <a:rPr lang="id-ID" sz="1100" dirty="0" err="1"/>
              <a:t>Engine</a:t>
            </a:r>
            <a:r>
              <a:rPr lang="id-ID" sz="1100" dirty="0"/>
              <a:t> menghitung Business </a:t>
            </a:r>
            <a:r>
              <a:rPr lang="id-ID" sz="1100" dirty="0" err="1"/>
              <a:t>Health</a:t>
            </a:r>
            <a:r>
              <a:rPr lang="id-ID" sz="1100" dirty="0"/>
              <a:t> </a:t>
            </a:r>
            <a:r>
              <a:rPr lang="id-ID" sz="1100" dirty="0" err="1"/>
              <a:t>Score</a:t>
            </a:r>
            <a:r>
              <a:rPr lang="id-ID" sz="1100" dirty="0"/>
              <a:t> (0–100) dari 6 komponen tertimbang: </a:t>
            </a:r>
            <a:r>
              <a:rPr lang="id-ID" sz="1100" dirty="0" err="1"/>
              <a:t>Revenue</a:t>
            </a:r>
            <a:r>
              <a:rPr lang="id-ID" sz="1100" dirty="0"/>
              <a:t> </a:t>
            </a:r>
            <a:r>
              <a:rPr lang="id-ID" sz="1100" dirty="0" err="1"/>
              <a:t>Growth</a:t>
            </a:r>
            <a:r>
              <a:rPr lang="id-ID" sz="1100" dirty="0"/>
              <a:t> (25%), </a:t>
            </a:r>
            <a:r>
              <a:rPr lang="id-ID" sz="1100" dirty="0" err="1"/>
              <a:t>Profitability</a:t>
            </a:r>
            <a:r>
              <a:rPr lang="id-ID" sz="1100" dirty="0"/>
              <a:t> (20%), </a:t>
            </a:r>
            <a:r>
              <a:rPr lang="id-ID" sz="1100" dirty="0" err="1"/>
              <a:t>Cashflow</a:t>
            </a:r>
            <a:r>
              <a:rPr lang="id-ID" sz="1100" dirty="0"/>
              <a:t> </a:t>
            </a:r>
            <a:r>
              <a:rPr lang="id-ID" sz="1100" dirty="0" err="1"/>
              <a:t>Stability</a:t>
            </a:r>
            <a:r>
              <a:rPr lang="id-ID" sz="1100" dirty="0"/>
              <a:t> (20%), </a:t>
            </a:r>
            <a:r>
              <a:rPr lang="id-ID" sz="1100" dirty="0" err="1"/>
              <a:t>Expense</a:t>
            </a:r>
            <a:r>
              <a:rPr lang="id-ID" sz="1100" dirty="0"/>
              <a:t> </a:t>
            </a:r>
            <a:r>
              <a:rPr lang="id-ID" sz="1100" dirty="0" err="1"/>
              <a:t>Efficiency</a:t>
            </a:r>
            <a:r>
              <a:rPr lang="id-ID" sz="1100" dirty="0"/>
              <a:t> (15%), </a:t>
            </a:r>
            <a:r>
              <a:rPr lang="id-ID" sz="1100" dirty="0" err="1"/>
              <a:t>Inventory</a:t>
            </a:r>
            <a:r>
              <a:rPr lang="id-ID" sz="1100" dirty="0"/>
              <a:t> </a:t>
            </a:r>
            <a:r>
              <a:rPr lang="id-ID" sz="1100" dirty="0" err="1"/>
              <a:t>Turnover</a:t>
            </a:r>
            <a:r>
              <a:rPr lang="id-ID" sz="1100" dirty="0"/>
              <a:t> (10%), </a:t>
            </a:r>
            <a:r>
              <a:rPr lang="id-ID" sz="1100" dirty="0" err="1"/>
              <a:t>Customer</a:t>
            </a:r>
            <a:r>
              <a:rPr lang="id-ID" sz="1100" dirty="0"/>
              <a:t> </a:t>
            </a:r>
            <a:r>
              <a:rPr lang="id-ID" sz="1100" dirty="0" err="1"/>
              <a:t>Retention</a:t>
            </a:r>
            <a:r>
              <a:rPr lang="id-ID" sz="1100" dirty="0"/>
              <a:t> (10%). Dari skor kesehatan + konsistensi data + umur usaha + kualitas pelaporan dihitung Investment </a:t>
            </a:r>
            <a:r>
              <a:rPr lang="id-ID" sz="1100" dirty="0" err="1"/>
              <a:t>Readiness</a:t>
            </a:r>
            <a:r>
              <a:rPr lang="id-ID" sz="1100" dirty="0"/>
              <a:t> </a:t>
            </a:r>
            <a:r>
              <a:rPr lang="id-ID" sz="1100" dirty="0" err="1"/>
              <a:t>Score</a:t>
            </a:r>
            <a:r>
              <a:rPr lang="id-ID" sz="1100" dirty="0"/>
              <a:t> (Low/Medium/</a:t>
            </a:r>
            <a:r>
              <a:rPr lang="id-ID" sz="1100" dirty="0" err="1"/>
              <a:t>High</a:t>
            </a:r>
            <a:r>
              <a:rPr lang="id-ID" sz="1100" dirty="0"/>
              <a:t>) beserta </a:t>
            </a:r>
            <a:r>
              <a:rPr lang="id-ID" sz="1100" dirty="0" err="1"/>
              <a:t>risk</a:t>
            </a:r>
            <a:r>
              <a:rPr lang="id-ID" sz="1100" dirty="0"/>
              <a:t> </a:t>
            </a:r>
            <a:r>
              <a:rPr lang="id-ID" sz="1100" dirty="0" err="1"/>
              <a:t>flags</a:t>
            </a:r>
            <a:r>
              <a:rPr lang="id-ID" sz="1100" dirty="0"/>
              <a:t> &amp; </a:t>
            </a:r>
            <a:r>
              <a:rPr lang="id-ID" sz="1100" dirty="0" err="1"/>
              <a:t>strengths</a:t>
            </a:r>
            <a:r>
              <a:rPr lang="id-ID" sz="1100" dirty="0"/>
              <a:t>. </a:t>
            </a:r>
            <a:r>
              <a:rPr lang="id-ID" sz="1100" dirty="0" err="1"/>
              <a:t>Guardrail</a:t>
            </a:r>
            <a:r>
              <a:rPr lang="id-ID" sz="1100" dirty="0"/>
              <a:t>: skor hanya dihitung bila kelengkapan data ≥60%.</a:t>
            </a:r>
            <a:endParaRPr lang="en-US" sz="1100" dirty="0"/>
          </a:p>
          <a:p>
            <a:pPr algn="just"/>
            <a:endParaRPr lang="id-ID" sz="1100" dirty="0"/>
          </a:p>
          <a:p>
            <a:pPr algn="just"/>
            <a:r>
              <a:rPr lang="id-ID" sz="1100" dirty="0"/>
              <a:t>OUTPUT — UMKM melihat skor, tren, dan rekomendasi; AI </a:t>
            </a:r>
            <a:r>
              <a:rPr lang="id-ID" sz="1100" dirty="0" err="1"/>
              <a:t>Coach</a:t>
            </a:r>
            <a:r>
              <a:rPr lang="id-ID" sz="1100" dirty="0"/>
              <a:t> Rinda memberi </a:t>
            </a:r>
            <a:r>
              <a:rPr lang="id-ID" sz="1100" dirty="0" err="1"/>
              <a:t>insight</a:t>
            </a:r>
            <a:r>
              <a:rPr lang="id-ID" sz="1100" dirty="0"/>
              <a:t> </a:t>
            </a:r>
            <a:r>
              <a:rPr lang="id-ID" sz="1100" dirty="0" err="1"/>
              <a:t>actionable</a:t>
            </a:r>
            <a:r>
              <a:rPr lang="id-ID" sz="1100" dirty="0"/>
              <a:t> berbahasa Indonesia; satu klik menghasilkan proposal pendanaan PDF. Investor membuka Investor </a:t>
            </a:r>
            <a:r>
              <a:rPr lang="id-ID" sz="1100" dirty="0" err="1"/>
              <a:t>Dashboard</a:t>
            </a:r>
            <a:r>
              <a:rPr lang="id-ID" sz="1100" dirty="0"/>
              <a:t> (peta + daftar) untuk </a:t>
            </a:r>
            <a:r>
              <a:rPr lang="id-ID" sz="1100" dirty="0" err="1"/>
              <a:t>screening</a:t>
            </a:r>
            <a:r>
              <a:rPr lang="id-ID" sz="1100" dirty="0"/>
              <a:t>, melihat detail UMKM, menyimpan </a:t>
            </a:r>
            <a:r>
              <a:rPr lang="id-ID" sz="1100" dirty="0" err="1"/>
              <a:t>watchlist</a:t>
            </a:r>
            <a:r>
              <a:rPr lang="id-ID" sz="1100" dirty="0"/>
              <a:t>, dan menyatakan minat.</a:t>
            </a:r>
            <a:endParaRPr lang="en-US" sz="1100" dirty="0"/>
          </a:p>
          <a:p>
            <a:pPr algn="just"/>
            <a:endParaRPr lang="id-ID" sz="1100" dirty="0"/>
          </a:p>
          <a:p>
            <a:pPr algn="just"/>
            <a:r>
              <a:rPr lang="id-ID" sz="1100" dirty="0"/>
              <a:t>INTERAKSI — UMKM via web/PWA </a:t>
            </a:r>
            <a:r>
              <a:rPr lang="id-ID" sz="1100" dirty="0" err="1"/>
              <a:t>mobile-first</a:t>
            </a:r>
            <a:r>
              <a:rPr lang="id-ID" sz="1100" dirty="0"/>
              <a:t>; investor via </a:t>
            </a:r>
            <a:r>
              <a:rPr lang="id-ID" sz="1100" dirty="0" err="1"/>
              <a:t>dashboard</a:t>
            </a:r>
            <a:r>
              <a:rPr lang="id-ID" sz="1100" dirty="0"/>
              <a:t>; akses dipisah </a:t>
            </a:r>
            <a:r>
              <a:rPr lang="id-ID" sz="1100" dirty="0" err="1"/>
              <a:t>Row</a:t>
            </a:r>
            <a:r>
              <a:rPr lang="id-ID" sz="1100" dirty="0"/>
              <a:t> Level </a:t>
            </a:r>
            <a:r>
              <a:rPr lang="id-ID" sz="1100" dirty="0" err="1"/>
              <a:t>Security</a:t>
            </a:r>
            <a:r>
              <a:rPr lang="id-ID" sz="1100" dirty="0"/>
              <a:t>.</a:t>
            </a:r>
            <a:endParaRPr lang="en-US" sz="1100" dirty="0"/>
          </a:p>
          <a:p>
            <a:pPr algn="just"/>
            <a:endParaRPr lang="en-US" sz="1100" dirty="0"/>
          </a:p>
          <a:p>
            <a:pPr algn="just"/>
            <a:r>
              <a:rPr lang="id-ID" sz="1100" dirty="0"/>
              <a:t>PENAJAMAN dari proposal pertama: </a:t>
            </a:r>
            <a:r>
              <a:rPr lang="id-ID" sz="1100" dirty="0" err="1"/>
              <a:t>scoring</a:t>
            </a:r>
            <a:r>
              <a:rPr lang="id-ID" sz="1100" dirty="0"/>
              <a:t> </a:t>
            </a:r>
            <a:r>
              <a:rPr lang="id-ID" sz="1100" dirty="0" err="1"/>
              <a:t>engine</a:t>
            </a:r>
            <a:r>
              <a:rPr lang="id-ID" sz="1100" dirty="0"/>
              <a:t> kini benar-benar terimplementasi (bukan rancangan), Investor </a:t>
            </a:r>
            <a:r>
              <a:rPr lang="id-ID" sz="1100" dirty="0" err="1"/>
              <a:t>Dashboard</a:t>
            </a:r>
            <a:r>
              <a:rPr lang="id-ID" sz="1100" dirty="0"/>
              <a:t> + peta + data 10+ UMKM F&amp;B Yogyakarta sudah berjalan, dan </a:t>
            </a:r>
            <a:r>
              <a:rPr lang="id-ID" sz="1100" dirty="0" err="1"/>
              <a:t>Cashbook</a:t>
            </a:r>
            <a:r>
              <a:rPr lang="id-ID" sz="1100" dirty="0"/>
              <a:t> ditingkatkan (kategorisasi, deteksi anomali, 5 grafik, ekspor).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746425" y="1993900"/>
            <a:ext cx="6033638" cy="117813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SOLUTION &amp; IMPACT DEEP DIVE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6425" y="1164590"/>
            <a:ext cx="3739853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500" b="1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Impact Scale &amp; Targets  (maks 230 kata)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10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A20E0B2-C651-A593-7F03-B268400B1CF4}"/>
              </a:ext>
            </a:extLst>
          </p:cNvPr>
          <p:cNvSpPr/>
          <p:nvPr/>
        </p:nvSpPr>
        <p:spPr>
          <a:xfrm>
            <a:off x="746425" y="1917700"/>
            <a:ext cx="6033638" cy="3048000"/>
          </a:xfrm>
          <a:custGeom>
            <a:avLst/>
            <a:gdLst/>
            <a:ahLst/>
            <a:cxnLst/>
            <a:rect l="l" t="t" r="r" b="b"/>
            <a:pathLst>
              <a:path w="1689312" h="1210280">
                <a:moveTo>
                  <a:pt x="0" y="0"/>
                </a:moveTo>
                <a:lnTo>
                  <a:pt x="1689312" y="0"/>
                </a:lnTo>
                <a:lnTo>
                  <a:pt x="1689312" y="1210280"/>
                </a:lnTo>
                <a:lnTo>
                  <a:pt x="0" y="12102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/>
          <a:lstStyle/>
          <a:p>
            <a:r>
              <a:rPr lang="id-ID" sz="1100" dirty="0"/>
              <a:t>Dampak utama: menutup kesenjangan informasi UMKM–investor sehingga UMKM layak namun belum </a:t>
            </a:r>
            <a:r>
              <a:rPr lang="id-ID" sz="1100" dirty="0" err="1"/>
              <a:t>bankable</a:t>
            </a:r>
            <a:r>
              <a:rPr lang="id-ID" sz="1100" dirty="0"/>
              <a:t> bisa dinilai &amp; didanai, dan investor dapat menyaring banyak UMKM dengan biaya rendah.</a:t>
            </a:r>
          </a:p>
          <a:p>
            <a:r>
              <a:rPr lang="id-ID" sz="1100" dirty="0"/>
              <a:t>Penerima manfaat: (1) UMKM F&amp;B Rp10–200 juta/bulan; (2) investor ritel, koperasi, BPR, </a:t>
            </a:r>
            <a:r>
              <a:rPr lang="id-ID" sz="1100" dirty="0" err="1"/>
              <a:t>fintech</a:t>
            </a:r>
            <a:r>
              <a:rPr lang="id-ID" sz="1100" dirty="0"/>
              <a:t> P2P; (3) ekosistem keuangan (data </a:t>
            </a:r>
            <a:r>
              <a:rPr lang="id-ID" sz="1100" dirty="0" err="1"/>
              <a:t>benchmark</a:t>
            </a:r>
            <a:r>
              <a:rPr lang="id-ID" sz="1100" dirty="0"/>
              <a:t> &amp; inklusi).</a:t>
            </a:r>
          </a:p>
          <a:p>
            <a:r>
              <a:rPr lang="id-ID" sz="1100" dirty="0"/>
              <a:t>Estimasi skala bertahap:</a:t>
            </a:r>
            <a:endParaRPr lang="en-US" sz="1100" dirty="0"/>
          </a:p>
          <a:p>
            <a:endParaRPr lang="id-ID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0–6 bulan (pilot Yogyakarta): 20–30 UMKM </a:t>
            </a:r>
            <a:r>
              <a:rPr lang="id-ID" sz="1100" dirty="0" err="1"/>
              <a:t>onboarded</a:t>
            </a:r>
            <a:r>
              <a:rPr lang="id-ID" sz="1100" dirty="0"/>
              <a:t>, 1.000+ transaksi tercatat, kelengkapan data naik dari &lt;40% ke &gt;75%, </a:t>
            </a:r>
            <a:r>
              <a:rPr lang="id-ID" sz="1100" dirty="0" err="1"/>
              <a:t>first</a:t>
            </a:r>
            <a:r>
              <a:rPr lang="id-ID" sz="1100" dirty="0"/>
              <a:t> investor </a:t>
            </a:r>
            <a:r>
              <a:rPr lang="id-ID" sz="1100" dirty="0" err="1"/>
              <a:t>assessment</a:t>
            </a:r>
            <a:r>
              <a:rPr lang="id-ID" sz="11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6–24 bulan (</a:t>
            </a:r>
            <a:r>
              <a:rPr lang="id-ID" sz="1100" dirty="0" err="1"/>
              <a:t>multi</a:t>
            </a:r>
            <a:r>
              <a:rPr lang="id-ID" sz="1100" dirty="0"/>
              <a:t>-kota): 200–500 UMKM, 100+ investor </a:t>
            </a:r>
            <a:r>
              <a:rPr lang="id-ID" sz="1100" dirty="0" err="1"/>
              <a:t>assessment</a:t>
            </a:r>
            <a:r>
              <a:rPr lang="id-ID" sz="1100" dirty="0"/>
              <a:t>, integrasi BPR/Koperasi/</a:t>
            </a:r>
            <a:r>
              <a:rPr lang="id-ID" sz="1100" dirty="0" err="1"/>
              <a:t>Fintech</a:t>
            </a:r>
            <a:r>
              <a:rPr lang="id-ID" sz="1100" dirty="0"/>
              <a:t> sebagai </a:t>
            </a:r>
            <a:r>
              <a:rPr lang="id-ID" sz="1100" dirty="0" err="1"/>
              <a:t>channel</a:t>
            </a:r>
            <a:r>
              <a:rPr lang="id-ID" sz="11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&gt;24 bulan (nasional): 5.000+ UMKM, integrasi data </a:t>
            </a:r>
            <a:r>
              <a:rPr lang="id-ID" sz="1100" dirty="0" err="1"/>
              <a:t>marketplace</a:t>
            </a:r>
            <a:r>
              <a:rPr lang="id-ID" sz="1100" dirty="0"/>
              <a:t>, </a:t>
            </a:r>
            <a:r>
              <a:rPr lang="id-ID" sz="1100" dirty="0" err="1"/>
              <a:t>RetailMind</a:t>
            </a:r>
            <a:r>
              <a:rPr lang="id-ID" sz="1100" dirty="0"/>
              <a:t> </a:t>
            </a:r>
            <a:r>
              <a:rPr lang="id-ID" sz="1100" dirty="0" err="1"/>
              <a:t>Score</a:t>
            </a:r>
            <a:r>
              <a:rPr lang="id-ID" sz="1100" dirty="0"/>
              <a:t> menjadi standar evaluasi UMKM F&amp;B.</a:t>
            </a:r>
          </a:p>
          <a:p>
            <a:endParaRPr lang="en-US" sz="1100" dirty="0"/>
          </a:p>
          <a:p>
            <a:r>
              <a:rPr lang="id-ID" sz="1100" dirty="0"/>
              <a:t>Efisiensi yang ditargetkan (proyeksi/</a:t>
            </a:r>
            <a:r>
              <a:rPr lang="id-ID" sz="1100" dirty="0" err="1"/>
              <a:t>benchmark</a:t>
            </a:r>
            <a:r>
              <a:rPr lang="id-ID" sz="1100" dirty="0"/>
              <a:t> literatur): waktu </a:t>
            </a:r>
            <a:r>
              <a:rPr lang="id-ID" sz="1100" dirty="0" err="1"/>
              <a:t>due</a:t>
            </a:r>
            <a:r>
              <a:rPr lang="id-ID" sz="1100" dirty="0"/>
              <a:t> </a:t>
            </a:r>
            <a:r>
              <a:rPr lang="id-ID" sz="1100" dirty="0" err="1"/>
              <a:t>diligence</a:t>
            </a:r>
            <a:r>
              <a:rPr lang="id-ID" sz="1100" dirty="0"/>
              <a:t> dari 2–4 minggu menjadi hitungan menit; satu analis dapat menyaring 50+ UMKM/hari vs 5–10/bulan; potensi peningkatan akses kredit hingga 3,5× seiring kelengkapan data (McKinsey 2023). Klaim efisiensi ini adalah proyeksi berbasis </a:t>
            </a:r>
            <a:r>
              <a:rPr lang="id-ID" sz="1100" dirty="0" err="1"/>
              <a:t>benchmark</a:t>
            </a:r>
            <a:r>
              <a:rPr lang="id-ID" sz="1100" dirty="0"/>
              <a:t>, akan divalidasi pada pilot.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746425" y="1993900"/>
            <a:ext cx="6033638" cy="117813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SOLUTION &amp; IMPACT DEEP DIVE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6425" y="1164590"/>
            <a:ext cx="3739853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500" b="1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Impact Measurement  (maks 270 kata)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11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A20E0B2-C651-A593-7F03-B268400B1CF4}"/>
              </a:ext>
            </a:extLst>
          </p:cNvPr>
          <p:cNvSpPr/>
          <p:nvPr/>
        </p:nvSpPr>
        <p:spPr>
          <a:xfrm>
            <a:off x="746425" y="1917700"/>
            <a:ext cx="6033638" cy="3200400"/>
          </a:xfrm>
          <a:custGeom>
            <a:avLst/>
            <a:gdLst/>
            <a:ahLst/>
            <a:cxnLst/>
            <a:rect l="l" t="t" r="r" b="b"/>
            <a:pathLst>
              <a:path w="1689312" h="1210280">
                <a:moveTo>
                  <a:pt x="0" y="0"/>
                </a:moveTo>
                <a:lnTo>
                  <a:pt x="1689312" y="0"/>
                </a:lnTo>
                <a:lnTo>
                  <a:pt x="1689312" y="1210280"/>
                </a:lnTo>
                <a:lnTo>
                  <a:pt x="0" y="12102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/>
          <a:lstStyle/>
          <a:p>
            <a:r>
              <a:rPr lang="id-ID" sz="1100" dirty="0"/>
              <a:t>Indikator keberhasilan terukur (dengan target angka):</a:t>
            </a:r>
            <a:endParaRPr lang="en-US" sz="1100" dirty="0"/>
          </a:p>
          <a:p>
            <a:endParaRPr lang="id-ID" sz="1100" dirty="0"/>
          </a:p>
          <a:p>
            <a:r>
              <a:rPr lang="id-ID" sz="1100" dirty="0"/>
              <a:t>Adopsi &amp; aktivitas: UMKM </a:t>
            </a:r>
            <a:r>
              <a:rPr lang="id-ID" sz="1100" dirty="0" err="1"/>
              <a:t>onboarded</a:t>
            </a:r>
            <a:r>
              <a:rPr lang="id-ID" sz="1100" dirty="0"/>
              <a:t>/bulan (target pilot 20–30 dalam 6 bulan); transaksi tercatat/bulan (1.000+ kumulatif pada pilot); jumlah Business </a:t>
            </a:r>
            <a:r>
              <a:rPr lang="id-ID" sz="1100" dirty="0" err="1"/>
              <a:t>Health</a:t>
            </a:r>
            <a:r>
              <a:rPr lang="id-ID" sz="1100" dirty="0"/>
              <a:t> </a:t>
            </a:r>
            <a:r>
              <a:rPr lang="id-ID" sz="1100" dirty="0" err="1"/>
              <a:t>Score</a:t>
            </a:r>
            <a:r>
              <a:rPr lang="id-ID" sz="1100" dirty="0"/>
              <a:t> ter-</a:t>
            </a:r>
            <a:r>
              <a:rPr lang="id-ID" sz="1100" dirty="0" err="1"/>
              <a:t>generate</a:t>
            </a:r>
            <a:r>
              <a:rPr lang="id-ID" sz="1100" dirty="0"/>
              <a:t> (≥1 skor valid per UMKM aktif); kelengkapan data rata-rata &lt;40% → &gt;75% dalam 6 bulan.</a:t>
            </a:r>
          </a:p>
          <a:p>
            <a:r>
              <a:rPr lang="id-ID" sz="1100" dirty="0" err="1"/>
              <a:t>Engagement</a:t>
            </a:r>
            <a:r>
              <a:rPr lang="id-ID" sz="1100" dirty="0"/>
              <a:t> &amp; retensi: konversi </a:t>
            </a:r>
            <a:r>
              <a:rPr lang="id-ID" sz="1100" dirty="0" err="1"/>
              <a:t>Free→Pro</a:t>
            </a:r>
            <a:r>
              <a:rPr lang="id-ID" sz="1100" dirty="0"/>
              <a:t> (target awal 10%); retensi bulanan UMKM aktif (≥60%); interaksi AI </a:t>
            </a:r>
            <a:r>
              <a:rPr lang="id-ID" sz="1100" dirty="0" err="1"/>
              <a:t>Coach</a:t>
            </a:r>
            <a:r>
              <a:rPr lang="id-ID" sz="1100" dirty="0"/>
              <a:t> per UMKM/bulan.</a:t>
            </a:r>
            <a:endParaRPr lang="en-US" sz="1100" dirty="0"/>
          </a:p>
          <a:p>
            <a:endParaRPr lang="id-ID" sz="1100" dirty="0"/>
          </a:p>
          <a:p>
            <a:r>
              <a:rPr lang="id-ID" sz="1100" dirty="0"/>
              <a:t>Sisi investor: jumlah investor </a:t>
            </a:r>
            <a:r>
              <a:rPr lang="id-ID" sz="1100" dirty="0" err="1"/>
              <a:t>assessment</a:t>
            </a:r>
            <a:r>
              <a:rPr lang="id-ID" sz="1100" dirty="0"/>
              <a:t> (100+ dalam 24 bulan); UMKM masuk </a:t>
            </a:r>
            <a:r>
              <a:rPr lang="id-ID" sz="1100" dirty="0" err="1"/>
              <a:t>watchlist</a:t>
            </a:r>
            <a:r>
              <a:rPr lang="id-ID" sz="1100" dirty="0"/>
              <a:t> &amp; pernyataan minat; waktu </a:t>
            </a:r>
            <a:r>
              <a:rPr lang="id-ID" sz="1100" dirty="0" err="1"/>
              <a:t>screening</a:t>
            </a:r>
            <a:r>
              <a:rPr lang="id-ID" sz="1100" dirty="0"/>
              <a:t> per UMKM (proyeksi: turun dari minggu → menit).</a:t>
            </a:r>
          </a:p>
          <a:p>
            <a:r>
              <a:rPr lang="id-ID" sz="1100" dirty="0"/>
              <a:t>Dampak finansial/ekosistem: jumlah UMKM yang naik kategori </a:t>
            </a:r>
            <a:r>
              <a:rPr lang="id-ID" sz="1100" dirty="0" err="1"/>
              <a:t>readiness</a:t>
            </a:r>
            <a:r>
              <a:rPr lang="id-ID" sz="1100" dirty="0"/>
              <a:t> (</a:t>
            </a:r>
            <a:r>
              <a:rPr lang="id-ID" sz="1100" dirty="0" err="1"/>
              <a:t>Low→Medium→High</a:t>
            </a:r>
            <a:r>
              <a:rPr lang="id-ID" sz="1100" dirty="0"/>
              <a:t>); jumlah proposal pendanaan PDF </a:t>
            </a:r>
            <a:r>
              <a:rPr lang="id-ID" sz="1100" dirty="0" err="1"/>
              <a:t>di-generate</a:t>
            </a:r>
            <a:r>
              <a:rPr lang="id-ID" sz="1100" dirty="0"/>
              <a:t> &amp; ditindaklanjuti; jumlah mitra (BPR/Koperasi/</a:t>
            </a:r>
            <a:r>
              <a:rPr lang="id-ID" sz="1100" dirty="0" err="1"/>
              <a:t>Fintech</a:t>
            </a:r>
            <a:r>
              <a:rPr lang="id-ID" sz="1100" dirty="0"/>
              <a:t>) bergabung sebagai </a:t>
            </a:r>
            <a:r>
              <a:rPr lang="id-ID" sz="1100" dirty="0" err="1"/>
              <a:t>channel</a:t>
            </a:r>
            <a:r>
              <a:rPr lang="id-ID" sz="1100" dirty="0"/>
              <a:t>.</a:t>
            </a:r>
            <a:endParaRPr lang="en-US" sz="1100" dirty="0"/>
          </a:p>
          <a:p>
            <a:endParaRPr lang="id-ID" sz="1100" dirty="0"/>
          </a:p>
          <a:p>
            <a:r>
              <a:rPr lang="id-ID" sz="1100" dirty="0"/>
              <a:t>Cara pengukuran: seluruh metrik tercatat otomatis di platform (</a:t>
            </a:r>
            <a:r>
              <a:rPr lang="id-ID" sz="1100" dirty="0" err="1"/>
              <a:t>event</a:t>
            </a:r>
            <a:r>
              <a:rPr lang="id-ID" sz="1100" dirty="0"/>
              <a:t> transaksi, perhitungan skor harian tersimpan di tabel </a:t>
            </a:r>
            <a:r>
              <a:rPr lang="id-ID" sz="1100" dirty="0" err="1"/>
              <a:t>business_scores</a:t>
            </a:r>
            <a:r>
              <a:rPr lang="id-ID" sz="1100" dirty="0"/>
              <a:t>, audit log akses). Pada pilot kami juga mengukur </a:t>
            </a:r>
            <a:r>
              <a:rPr lang="id-ID" sz="1100" dirty="0" err="1"/>
              <a:t>baseline</a:t>
            </a:r>
            <a:r>
              <a:rPr lang="id-ID" sz="1100" dirty="0"/>
              <a:t> vs hasil (kelengkapan data, kemampuan menyajikan laporan </a:t>
            </a:r>
            <a:r>
              <a:rPr lang="id-ID" sz="1100" dirty="0" err="1"/>
              <a:t>terverifikasi</a:t>
            </a:r>
            <a:r>
              <a:rPr lang="id-ID" sz="1100" dirty="0"/>
              <a:t>) lewat survei sebelum–sesudah pada UMKM peserta, sehingga dampak dapat dibuktikan dengan angka, bukan klaim abstrak.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746425" y="1993900"/>
            <a:ext cx="6033638" cy="117813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SOLUTION &amp; IMPACT DEEP DIVE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6425" y="1164590"/>
            <a:ext cx="3739853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500" b="1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System &amp; Public Value Proposition  (maks 200 kata)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12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A20E0B2-C651-A593-7F03-B268400B1CF4}"/>
              </a:ext>
            </a:extLst>
          </p:cNvPr>
          <p:cNvSpPr/>
          <p:nvPr/>
        </p:nvSpPr>
        <p:spPr>
          <a:xfrm>
            <a:off x="746425" y="1917700"/>
            <a:ext cx="6033638" cy="2819400"/>
          </a:xfrm>
          <a:custGeom>
            <a:avLst/>
            <a:gdLst/>
            <a:ahLst/>
            <a:cxnLst/>
            <a:rect l="l" t="t" r="r" b="b"/>
            <a:pathLst>
              <a:path w="1689312" h="1210280">
                <a:moveTo>
                  <a:pt x="0" y="0"/>
                </a:moveTo>
                <a:lnTo>
                  <a:pt x="1689312" y="0"/>
                </a:lnTo>
                <a:lnTo>
                  <a:pt x="1689312" y="1210280"/>
                </a:lnTo>
                <a:lnTo>
                  <a:pt x="0" y="12102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/>
          <a:lstStyle/>
          <a:p>
            <a:r>
              <a:rPr lang="id-ID" sz="1100" dirty="0"/>
              <a:t>Nilai </a:t>
            </a:r>
            <a:r>
              <a:rPr lang="id-ID" sz="1100" dirty="0" err="1"/>
              <a:t>sistemik</a:t>
            </a:r>
            <a:r>
              <a:rPr lang="id-ID" sz="1100" dirty="0"/>
              <a:t> melampaui pengguna individu: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>
                <a:highlight>
                  <a:srgbClr val="FF0000"/>
                </a:highlight>
              </a:rPr>
              <a:t>•	Inklusi keuangan: membuka jalur pembiayaan bagi UMKM yang layak tetapi belum </a:t>
            </a:r>
            <a:r>
              <a:rPr lang="id-ID" sz="1100" dirty="0" err="1">
                <a:highlight>
                  <a:srgbClr val="FF0000"/>
                </a:highlight>
              </a:rPr>
              <a:t>bankable</a:t>
            </a:r>
            <a:r>
              <a:rPr lang="id-ID" sz="1100" dirty="0">
                <a:highlight>
                  <a:srgbClr val="FF0000"/>
                </a:highlight>
              </a:rPr>
              <a:t> (69,5% UMKM belum akses kredit), mendukung target porsi kredit UMKM dari ~19,8% menuju 30%.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>
                <a:highlight>
                  <a:srgbClr val="FF0000"/>
                </a:highlight>
              </a:rPr>
              <a:t>•	Perbaikan kualitas &amp; standardisasi data: menciptakan format data UMKM F&amp;B yang konsisten dan </a:t>
            </a:r>
            <a:r>
              <a:rPr lang="id-ID" sz="1100" dirty="0" err="1">
                <a:highlight>
                  <a:srgbClr val="FF0000"/>
                </a:highlight>
              </a:rPr>
              <a:t>terverifikasi</a:t>
            </a:r>
            <a:r>
              <a:rPr lang="id-ID" sz="1100" dirty="0">
                <a:highlight>
                  <a:srgbClr val="FF0000"/>
                </a:highlight>
              </a:rPr>
              <a:t> — bahan baku untuk </a:t>
            </a:r>
            <a:r>
              <a:rPr lang="id-ID" sz="1100" dirty="0" err="1">
                <a:highlight>
                  <a:srgbClr val="FF0000"/>
                </a:highlight>
              </a:rPr>
              <a:t>Innovative</a:t>
            </a:r>
            <a:r>
              <a:rPr lang="id-ID" sz="1100" dirty="0">
                <a:highlight>
                  <a:srgbClr val="FF0000"/>
                </a:highlight>
              </a:rPr>
              <a:t> </a:t>
            </a:r>
            <a:r>
              <a:rPr lang="id-ID" sz="1100" dirty="0" err="1">
                <a:highlight>
                  <a:srgbClr val="FF0000"/>
                </a:highlight>
              </a:rPr>
              <a:t>Credit</a:t>
            </a:r>
            <a:r>
              <a:rPr lang="id-ID" sz="1100" dirty="0">
                <a:highlight>
                  <a:srgbClr val="FF0000"/>
                </a:highlight>
              </a:rPr>
              <a:t> </a:t>
            </a:r>
            <a:r>
              <a:rPr lang="id-ID" sz="1100" dirty="0" err="1">
                <a:highlight>
                  <a:srgbClr val="FF0000"/>
                </a:highlight>
              </a:rPr>
              <a:t>Scoring</a:t>
            </a:r>
            <a:r>
              <a:rPr lang="id-ID" sz="1100" dirty="0">
                <a:highlight>
                  <a:srgbClr val="FF0000"/>
                </a:highlight>
              </a:rPr>
              <a:t> (ICS) OJK dan keputusan pembiayaan.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>
                <a:highlight>
                  <a:srgbClr val="FF0000"/>
                </a:highlight>
              </a:rPr>
              <a:t>•	Pengurangan risiko &amp; </a:t>
            </a:r>
            <a:r>
              <a:rPr lang="id-ID" sz="1100" dirty="0" err="1">
                <a:highlight>
                  <a:srgbClr val="FF0000"/>
                </a:highlight>
              </a:rPr>
              <a:t>asimetri</a:t>
            </a:r>
            <a:r>
              <a:rPr lang="id-ID" sz="1100" dirty="0">
                <a:highlight>
                  <a:srgbClr val="FF0000"/>
                </a:highlight>
              </a:rPr>
              <a:t> informasi: </a:t>
            </a:r>
            <a:r>
              <a:rPr lang="id-ID" sz="1100" dirty="0" err="1">
                <a:highlight>
                  <a:srgbClr val="FF0000"/>
                </a:highlight>
              </a:rPr>
              <a:t>risk</a:t>
            </a:r>
            <a:r>
              <a:rPr lang="id-ID" sz="1100" dirty="0">
                <a:highlight>
                  <a:srgbClr val="FF0000"/>
                </a:highlight>
              </a:rPr>
              <a:t> </a:t>
            </a:r>
            <a:r>
              <a:rPr lang="id-ID" sz="1100" dirty="0" err="1">
                <a:highlight>
                  <a:srgbClr val="FF0000"/>
                </a:highlight>
              </a:rPr>
              <a:t>flags</a:t>
            </a:r>
            <a:r>
              <a:rPr lang="id-ID" sz="1100" dirty="0">
                <a:highlight>
                  <a:srgbClr val="FF0000"/>
                </a:highlight>
              </a:rPr>
              <a:t> dan skor objektif menurunkan risiko gagal bayar dan menutup kesenjangan informasi investor–UMKM.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>
                <a:highlight>
                  <a:srgbClr val="FF0000"/>
                </a:highlight>
              </a:rPr>
              <a:t>•	Efisiensi ekosistem: menurunkan biaya &amp; waktu </a:t>
            </a:r>
            <a:r>
              <a:rPr lang="id-ID" sz="1100" dirty="0" err="1">
                <a:highlight>
                  <a:srgbClr val="FF0000"/>
                </a:highlight>
              </a:rPr>
              <a:t>due</a:t>
            </a:r>
            <a:r>
              <a:rPr lang="id-ID" sz="1100" dirty="0">
                <a:highlight>
                  <a:srgbClr val="FF0000"/>
                </a:highlight>
              </a:rPr>
              <a:t> </a:t>
            </a:r>
            <a:r>
              <a:rPr lang="id-ID" sz="1100" dirty="0" err="1">
                <a:highlight>
                  <a:srgbClr val="FF0000"/>
                </a:highlight>
              </a:rPr>
              <a:t>diligence</a:t>
            </a:r>
            <a:r>
              <a:rPr lang="id-ID" sz="1100" dirty="0">
                <a:highlight>
                  <a:srgbClr val="FF0000"/>
                </a:highlight>
              </a:rPr>
              <a:t> sehingga lebih banyak modal mengalir ke sektor riil.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>
                <a:highlight>
                  <a:srgbClr val="FF0000"/>
                </a:highlight>
              </a:rPr>
              <a:t>•	Transparansi &amp; </a:t>
            </a:r>
            <a:r>
              <a:rPr lang="id-ID" sz="1100" dirty="0" err="1">
                <a:highlight>
                  <a:srgbClr val="FF0000"/>
                </a:highlight>
              </a:rPr>
              <a:t>benchmark</a:t>
            </a:r>
            <a:r>
              <a:rPr lang="id-ID" sz="1100" dirty="0">
                <a:highlight>
                  <a:srgbClr val="FF0000"/>
                </a:highlight>
              </a:rPr>
              <a:t>: agregasi (anonim) menghasilkan </a:t>
            </a:r>
            <a:r>
              <a:rPr lang="id-ID" sz="1100" dirty="0" err="1">
                <a:highlight>
                  <a:srgbClr val="FF0000"/>
                </a:highlight>
              </a:rPr>
              <a:t>benchmark</a:t>
            </a:r>
            <a:r>
              <a:rPr lang="id-ID" sz="1100" dirty="0">
                <a:highlight>
                  <a:srgbClr val="FF0000"/>
                </a:highlight>
              </a:rPr>
              <a:t> industri F&amp;B per kota/kategori yang berguna bagi kebijakan inklusi keuangan BI dan asosiasi.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>
                <a:highlight>
                  <a:srgbClr val="FF0000"/>
                </a:highlight>
              </a:rPr>
              <a:t>Dengan demikian, solusi memberi nilai bagi UMKM, investor, regulator, dan ekonomi digital nasional sekaligus.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746425" y="1993900"/>
            <a:ext cx="6033638" cy="117813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INNOVATION &amp; DIFFERENTIATION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6425" y="1164590"/>
            <a:ext cx="3739853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500" b="1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Solution Originality  (maks 300 kata)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13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A20E0B2-C651-A593-7F03-B268400B1CF4}"/>
              </a:ext>
            </a:extLst>
          </p:cNvPr>
          <p:cNvSpPr/>
          <p:nvPr/>
        </p:nvSpPr>
        <p:spPr>
          <a:xfrm>
            <a:off x="746425" y="1917700"/>
            <a:ext cx="6033638" cy="4495800"/>
          </a:xfrm>
          <a:custGeom>
            <a:avLst/>
            <a:gdLst/>
            <a:ahLst/>
            <a:cxnLst/>
            <a:rect l="l" t="t" r="r" b="b"/>
            <a:pathLst>
              <a:path w="1689312" h="1210280">
                <a:moveTo>
                  <a:pt x="0" y="0"/>
                </a:moveTo>
                <a:lnTo>
                  <a:pt x="1689312" y="0"/>
                </a:lnTo>
                <a:lnTo>
                  <a:pt x="1689312" y="1210280"/>
                </a:lnTo>
                <a:lnTo>
                  <a:pt x="0" y="12102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/>
          <a:lstStyle/>
          <a:p>
            <a:r>
              <a:rPr lang="id-ID" sz="1100" dirty="0"/>
              <a:t>Kebaruan </a:t>
            </a:r>
            <a:r>
              <a:rPr lang="id-ID" sz="1100" dirty="0" err="1"/>
              <a:t>RetailMind</a:t>
            </a:r>
            <a:r>
              <a:rPr lang="id-ID" sz="1100" dirty="0"/>
              <a:t> AI terletak pada integrasi tiga lapisan yang selama ini terpisah, dikemas khusus untuk vertikal UMKM F&amp;B Indonesia:</a:t>
            </a:r>
            <a:br>
              <a:rPr lang="en-US" sz="1100" dirty="0"/>
            </a:br>
            <a:endParaRPr lang="id-ID" sz="1100" dirty="0"/>
          </a:p>
          <a:p>
            <a:r>
              <a:rPr lang="id-ID" sz="1100" dirty="0"/>
              <a:t>1. Lapisan operasional (</a:t>
            </a:r>
            <a:r>
              <a:rPr lang="id-ID" sz="1100" dirty="0" err="1"/>
              <a:t>Smart</a:t>
            </a:r>
            <a:r>
              <a:rPr lang="id-ID" sz="1100" dirty="0"/>
              <a:t> POS + </a:t>
            </a:r>
            <a:r>
              <a:rPr lang="id-ID" sz="1100" dirty="0" err="1"/>
              <a:t>Cashbook</a:t>
            </a:r>
            <a:r>
              <a:rPr lang="id-ID" sz="1100" dirty="0"/>
              <a:t>) — tempat data lahir.</a:t>
            </a:r>
          </a:p>
          <a:p>
            <a:r>
              <a:rPr lang="id-ID" sz="1100" dirty="0"/>
              <a:t>2. Lapisan penilaian (Business </a:t>
            </a:r>
            <a:r>
              <a:rPr lang="id-ID" sz="1100" dirty="0" err="1"/>
              <a:t>Health</a:t>
            </a:r>
            <a:r>
              <a:rPr lang="id-ID" sz="1100" dirty="0"/>
              <a:t> </a:t>
            </a:r>
            <a:r>
              <a:rPr lang="id-ID" sz="1100" dirty="0" err="1"/>
              <a:t>Score</a:t>
            </a:r>
            <a:r>
              <a:rPr lang="id-ID" sz="1100" dirty="0"/>
              <a:t> + Investment </a:t>
            </a:r>
            <a:r>
              <a:rPr lang="id-ID" sz="1100" dirty="0" err="1"/>
              <a:t>Readiness</a:t>
            </a:r>
            <a:r>
              <a:rPr lang="id-ID" sz="1100" dirty="0"/>
              <a:t> </a:t>
            </a:r>
            <a:r>
              <a:rPr lang="id-ID" sz="1100" dirty="0" err="1"/>
              <a:t>Score</a:t>
            </a:r>
            <a:r>
              <a:rPr lang="id-ID" sz="1100" dirty="0"/>
              <a:t>) — mengubah data menjadi skor objektif 0–100.</a:t>
            </a:r>
          </a:p>
          <a:p>
            <a:r>
              <a:rPr lang="id-ID" sz="1100" dirty="0"/>
              <a:t>3. Lapisan investor (</a:t>
            </a:r>
            <a:r>
              <a:rPr lang="id-ID" sz="1100" dirty="0" err="1"/>
              <a:t>Dashboard</a:t>
            </a:r>
            <a:r>
              <a:rPr lang="id-ID" sz="1100" dirty="0"/>
              <a:t> + </a:t>
            </a:r>
            <a:r>
              <a:rPr lang="id-ID" sz="1100" dirty="0" err="1"/>
              <a:t>watchlist</a:t>
            </a:r>
            <a:r>
              <a:rPr lang="id-ID" sz="1100" dirty="0"/>
              <a:t> + proposal PDF) — tempat skor dipakai untuk keputusan pendanaan.</a:t>
            </a:r>
          </a:p>
          <a:p>
            <a:r>
              <a:rPr lang="id-ID" sz="1100" dirty="0"/>
              <a:t>Pemain yang ada berhenti di salah satu lapisan: aplikasi kasir/akuntansi (Moka, </a:t>
            </a:r>
            <a:r>
              <a:rPr lang="id-ID" sz="1100" dirty="0" err="1"/>
              <a:t>Majoo</a:t>
            </a:r>
            <a:r>
              <a:rPr lang="id-ID" sz="1100" dirty="0"/>
              <a:t>, Jurnal.id) berhenti pada pencatatan &amp; laporan; </a:t>
            </a:r>
            <a:r>
              <a:rPr lang="id-ID" sz="1100" dirty="0" err="1"/>
              <a:t>fintech</a:t>
            </a:r>
            <a:r>
              <a:rPr lang="id-ID" sz="1100" dirty="0"/>
              <a:t> ICS hanya melakukan </a:t>
            </a:r>
            <a:r>
              <a:rPr lang="id-ID" sz="1100" dirty="0" err="1"/>
              <a:t>scoring</a:t>
            </a:r>
            <a:r>
              <a:rPr lang="id-ID" sz="1100" dirty="0"/>
              <a:t> di sisi </a:t>
            </a:r>
            <a:r>
              <a:rPr lang="id-ID" sz="1100" dirty="0" err="1"/>
              <a:t>lender</a:t>
            </a:r>
            <a:r>
              <a:rPr lang="id-ID" sz="1100" dirty="0"/>
              <a:t> tanpa membantu UMKM membangun datanya. Belum ada produk yang menutup rantai 'transaksi harian → skor </a:t>
            </a:r>
            <a:r>
              <a:rPr lang="id-ID" sz="1100" dirty="0" err="1"/>
              <a:t>tepercaya</a:t>
            </a:r>
            <a:r>
              <a:rPr lang="id-ID" sz="1100" dirty="0"/>
              <a:t> → keputusan investor' dalam satu platform vertikal F&amp;B.</a:t>
            </a:r>
            <a:endParaRPr lang="en-US" sz="1100" dirty="0"/>
          </a:p>
          <a:p>
            <a:endParaRPr lang="id-ID" sz="1100" dirty="0"/>
          </a:p>
          <a:p>
            <a:r>
              <a:rPr lang="id-ID" sz="1100" dirty="0"/>
              <a:t>Pembeda lain: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Dwi-sisi (</a:t>
            </a:r>
            <a:r>
              <a:rPr lang="id-ID" sz="1100" dirty="0" err="1"/>
              <a:t>two-sided</a:t>
            </a:r>
            <a:r>
              <a:rPr lang="id-ID" sz="1100" dirty="0"/>
              <a:t>): satu produk melayani UMKM dan investor, menciptakan </a:t>
            </a:r>
            <a:r>
              <a:rPr lang="id-ID" sz="1100" dirty="0" err="1"/>
              <a:t>network</a:t>
            </a:r>
            <a:r>
              <a:rPr lang="id-ID" sz="1100" dirty="0"/>
              <a:t> </a:t>
            </a:r>
            <a:r>
              <a:rPr lang="id-ID" sz="1100" dirty="0" err="1"/>
              <a:t>effect</a:t>
            </a:r>
            <a:r>
              <a:rPr lang="id-ID" sz="1100" dirty="0"/>
              <a:t> &amp; data </a:t>
            </a:r>
            <a:r>
              <a:rPr lang="id-ID" sz="1100" dirty="0" err="1"/>
              <a:t>flywheel</a:t>
            </a:r>
            <a:r>
              <a:rPr lang="id-ID" sz="1100" dirty="0"/>
              <a:t> — makin lama dipakai, makin akurat skor dan makin tinggi nilainya bagi investor.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AI </a:t>
            </a:r>
            <a:r>
              <a:rPr lang="id-ID" sz="1100" dirty="0" err="1"/>
              <a:t>Coach</a:t>
            </a:r>
            <a:r>
              <a:rPr lang="id-ID" sz="1100" dirty="0"/>
              <a:t> Rinda berbahasa Indonesia yang membaca konteks data toko nyata (bukan jawaban generik), menurunkan hambatan </a:t>
            </a:r>
            <a:r>
              <a:rPr lang="id-ID" sz="1100" dirty="0" err="1"/>
              <a:t>literasi</a:t>
            </a:r>
            <a:r>
              <a:rPr lang="id-ID" sz="11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 err="1"/>
              <a:t>Scoring</a:t>
            </a:r>
            <a:r>
              <a:rPr lang="id-ID" sz="1100" dirty="0"/>
              <a:t> transparan dengan </a:t>
            </a:r>
            <a:r>
              <a:rPr lang="id-ID" sz="1100" dirty="0" err="1"/>
              <a:t>guardrail</a:t>
            </a:r>
            <a:r>
              <a:rPr lang="id-ID" sz="1100" dirty="0"/>
              <a:t> (skor hanya muncul bila data ≥60% lengkap) — menjaga kepercayaan, berbeda dari '</a:t>
            </a:r>
            <a:r>
              <a:rPr lang="id-ID" sz="1100" dirty="0" err="1"/>
              <a:t>black</a:t>
            </a:r>
            <a:r>
              <a:rPr lang="id-ID" sz="1100" dirty="0"/>
              <a:t> </a:t>
            </a:r>
            <a:r>
              <a:rPr lang="id-ID" sz="1100" dirty="0" err="1"/>
              <a:t>box</a:t>
            </a:r>
            <a:r>
              <a:rPr lang="id-ID" sz="1100" dirty="0"/>
              <a:t>' </a:t>
            </a:r>
            <a:r>
              <a:rPr lang="id-ID" sz="1100" dirty="0" err="1"/>
              <a:t>scoring</a:t>
            </a:r>
            <a:r>
              <a:rPr lang="id-ID" sz="11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 err="1"/>
              <a:t>Output</a:t>
            </a:r>
            <a:r>
              <a:rPr lang="id-ID" sz="1100" dirty="0"/>
              <a:t> 'investor-</a:t>
            </a:r>
            <a:r>
              <a:rPr lang="id-ID" sz="1100" dirty="0" err="1"/>
              <a:t>ready</a:t>
            </a:r>
            <a:r>
              <a:rPr lang="id-ID" sz="1100" dirty="0"/>
              <a:t>': proposal pendanaan PDF satu klik dan tampilan investor yang hanya menampilkan ringkasan/skor (bukan data mentah).</a:t>
            </a:r>
          </a:p>
          <a:p>
            <a:endParaRPr lang="en-US" sz="1100" dirty="0"/>
          </a:p>
          <a:p>
            <a:r>
              <a:rPr lang="en-US" sz="1100" dirty="0"/>
              <a:t>K</a:t>
            </a:r>
            <a:r>
              <a:rPr lang="id-ID" sz="1100" dirty="0" err="1"/>
              <a:t>ebaruan</a:t>
            </a:r>
            <a:r>
              <a:rPr lang="id-ID" sz="1100" dirty="0"/>
              <a:t> utama ada pada model layanan + integrasi ekosistem + fokus segmen, bukan sekadar fitur tunggal. Inilah yang menjadikan </a:t>
            </a:r>
            <a:r>
              <a:rPr lang="id-ID" sz="1100" dirty="0" err="1"/>
              <a:t>RetailMind</a:t>
            </a:r>
            <a:r>
              <a:rPr lang="id-ID" sz="1100" dirty="0"/>
              <a:t> AI infrastruktur kepercayaan UMKM, bukan sekadar alat catat.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746425" y="1993900"/>
            <a:ext cx="6033638" cy="117813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INNOVATION &amp; DIFFERENTIATION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6425" y="1164590"/>
            <a:ext cx="3739853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500" b="1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Technological / Method Innovation  (maks 240 kata)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14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A20E0B2-C651-A593-7F03-B268400B1CF4}"/>
              </a:ext>
            </a:extLst>
          </p:cNvPr>
          <p:cNvSpPr/>
          <p:nvPr/>
        </p:nvSpPr>
        <p:spPr>
          <a:xfrm>
            <a:off x="746425" y="1917700"/>
            <a:ext cx="6033638" cy="3276600"/>
          </a:xfrm>
          <a:custGeom>
            <a:avLst/>
            <a:gdLst/>
            <a:ahLst/>
            <a:cxnLst/>
            <a:rect l="l" t="t" r="r" b="b"/>
            <a:pathLst>
              <a:path w="1689312" h="1210280">
                <a:moveTo>
                  <a:pt x="0" y="0"/>
                </a:moveTo>
                <a:lnTo>
                  <a:pt x="1689312" y="0"/>
                </a:lnTo>
                <a:lnTo>
                  <a:pt x="1689312" y="1210280"/>
                </a:lnTo>
                <a:lnTo>
                  <a:pt x="0" y="12102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/>
          <a:lstStyle/>
          <a:p>
            <a:r>
              <a:rPr lang="id-ID" sz="1100" dirty="0"/>
              <a:t>Pendekatan teknologi dipilih agar akurat, hemat, dan tahan dipakai di lapangan: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 err="1"/>
              <a:t>Hybrid</a:t>
            </a:r>
            <a:r>
              <a:rPr lang="id-ID" sz="1100" dirty="0"/>
              <a:t> Business </a:t>
            </a:r>
            <a:r>
              <a:rPr lang="id-ID" sz="1100" dirty="0" err="1"/>
              <a:t>Health</a:t>
            </a:r>
            <a:r>
              <a:rPr lang="id-ID" sz="1100" dirty="0"/>
              <a:t> </a:t>
            </a:r>
            <a:r>
              <a:rPr lang="id-ID" sz="1100" dirty="0" err="1"/>
              <a:t>Scoring</a:t>
            </a:r>
            <a:r>
              <a:rPr lang="id-ID" sz="1100" dirty="0"/>
              <a:t> khusus F&amp;B: model berbobot 6 komponen (</a:t>
            </a:r>
            <a:r>
              <a:rPr lang="id-ID" sz="1100" dirty="0" err="1"/>
              <a:t>revenue</a:t>
            </a:r>
            <a:r>
              <a:rPr lang="id-ID" sz="1100" dirty="0"/>
              <a:t> </a:t>
            </a:r>
            <a:r>
              <a:rPr lang="id-ID" sz="1100" dirty="0" err="1"/>
              <a:t>growth</a:t>
            </a:r>
            <a:r>
              <a:rPr lang="id-ID" sz="1100" dirty="0"/>
              <a:t>, </a:t>
            </a:r>
            <a:r>
              <a:rPr lang="id-ID" sz="1100" dirty="0" err="1"/>
              <a:t>profitability</a:t>
            </a:r>
            <a:r>
              <a:rPr lang="id-ID" sz="1100" dirty="0"/>
              <a:t>, </a:t>
            </a:r>
            <a:r>
              <a:rPr lang="id-ID" sz="1100" dirty="0" err="1"/>
              <a:t>cashflow</a:t>
            </a:r>
            <a:r>
              <a:rPr lang="id-ID" sz="1100" dirty="0"/>
              <a:t> </a:t>
            </a:r>
            <a:r>
              <a:rPr lang="id-ID" sz="1100" dirty="0" err="1"/>
              <a:t>stability</a:t>
            </a:r>
            <a:r>
              <a:rPr lang="id-ID" sz="1100" dirty="0"/>
              <a:t>, </a:t>
            </a:r>
            <a:r>
              <a:rPr lang="id-ID" sz="1100" dirty="0" err="1"/>
              <a:t>expense</a:t>
            </a:r>
            <a:r>
              <a:rPr lang="id-ID" sz="1100" dirty="0"/>
              <a:t> </a:t>
            </a:r>
            <a:r>
              <a:rPr lang="id-ID" sz="1100" dirty="0" err="1"/>
              <a:t>efficiency</a:t>
            </a:r>
            <a:r>
              <a:rPr lang="id-ID" sz="1100" dirty="0"/>
              <a:t>, </a:t>
            </a:r>
            <a:r>
              <a:rPr lang="id-ID" sz="1100" dirty="0" err="1"/>
              <a:t>inventory</a:t>
            </a:r>
            <a:r>
              <a:rPr lang="id-ID" sz="1100" dirty="0"/>
              <a:t> </a:t>
            </a:r>
            <a:r>
              <a:rPr lang="id-ID" sz="1100" dirty="0" err="1"/>
              <a:t>turnover</a:t>
            </a:r>
            <a:r>
              <a:rPr lang="id-ID" sz="1100" dirty="0"/>
              <a:t>, </a:t>
            </a:r>
            <a:r>
              <a:rPr lang="id-ID" sz="1100" dirty="0" err="1"/>
              <a:t>customer</a:t>
            </a:r>
            <a:r>
              <a:rPr lang="id-ID" sz="1100" dirty="0"/>
              <a:t> </a:t>
            </a:r>
            <a:r>
              <a:rPr lang="id-ID" sz="1100" dirty="0" err="1"/>
              <a:t>retention</a:t>
            </a:r>
            <a:r>
              <a:rPr lang="id-ID" sz="1100" dirty="0"/>
              <a:t>) dengan </a:t>
            </a:r>
            <a:r>
              <a:rPr lang="id-ID" sz="1100" dirty="0" err="1"/>
              <a:t>guardrail</a:t>
            </a:r>
            <a:r>
              <a:rPr lang="id-ID" sz="1100" dirty="0"/>
              <a:t> validasi data. Bobot disesuaikan karakter arus kas harian F&amp;B, sehingga skor relevan, bukan generik.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RAG-</a:t>
            </a:r>
            <a:r>
              <a:rPr lang="id-ID" sz="1100" dirty="0" err="1"/>
              <a:t>based</a:t>
            </a:r>
            <a:r>
              <a:rPr lang="id-ID" sz="1100" dirty="0"/>
              <a:t> AI </a:t>
            </a:r>
            <a:r>
              <a:rPr lang="id-ID" sz="1100" dirty="0" err="1"/>
              <a:t>Coach</a:t>
            </a:r>
            <a:r>
              <a:rPr lang="id-ID" sz="1100" dirty="0"/>
              <a:t> (Rinda): </a:t>
            </a:r>
            <a:r>
              <a:rPr lang="id-ID" sz="1100" dirty="0" err="1"/>
              <a:t>insight</a:t>
            </a:r>
            <a:r>
              <a:rPr lang="id-ID" sz="1100" dirty="0"/>
              <a:t> dibangun dari konteks data toko nyata (</a:t>
            </a:r>
            <a:r>
              <a:rPr lang="id-ID" sz="1100" dirty="0" err="1"/>
              <a:t>revenue</a:t>
            </a:r>
            <a:r>
              <a:rPr lang="id-ID" sz="1100" dirty="0"/>
              <a:t>, </a:t>
            </a:r>
            <a:r>
              <a:rPr lang="id-ID" sz="1100" dirty="0" err="1"/>
              <a:t>expense</a:t>
            </a:r>
            <a:r>
              <a:rPr lang="id-ID" sz="1100" dirty="0"/>
              <a:t>, stok, skor), bukan pengetahuan umum — menekan halusinasi dan membuat saran </a:t>
            </a:r>
            <a:r>
              <a:rPr lang="id-ID" sz="1100" dirty="0" err="1"/>
              <a:t>actionable</a:t>
            </a:r>
            <a:r>
              <a:rPr lang="id-ID" sz="11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AI </a:t>
            </a:r>
            <a:r>
              <a:rPr lang="id-ID" sz="1100" dirty="0" err="1"/>
              <a:t>multi-provider</a:t>
            </a:r>
            <a:r>
              <a:rPr lang="id-ID" sz="1100" dirty="0"/>
              <a:t> dengan </a:t>
            </a:r>
            <a:r>
              <a:rPr lang="id-ID" sz="1100" dirty="0" err="1"/>
              <a:t>fallback</a:t>
            </a:r>
            <a:r>
              <a:rPr lang="id-ID" sz="1100" dirty="0"/>
              <a:t> </a:t>
            </a:r>
            <a:r>
              <a:rPr lang="id-ID" sz="1100" dirty="0" err="1"/>
              <a:t>rule-based</a:t>
            </a:r>
            <a:r>
              <a:rPr lang="id-ID" sz="1100" dirty="0"/>
              <a:t>: sistem dapat memakai </a:t>
            </a:r>
            <a:r>
              <a:rPr lang="id-ID" sz="1100" dirty="0" err="1"/>
              <a:t>Claude</a:t>
            </a:r>
            <a:r>
              <a:rPr lang="id-ID" sz="1100" dirty="0"/>
              <a:t>/Gemini/</a:t>
            </a:r>
            <a:r>
              <a:rPr lang="id-ID" sz="1100" dirty="0" err="1"/>
              <a:t>OpenAI</a:t>
            </a:r>
            <a:r>
              <a:rPr lang="id-ID" sz="1100" dirty="0"/>
              <a:t>/</a:t>
            </a:r>
            <a:r>
              <a:rPr lang="id-ID" sz="1100" dirty="0" err="1"/>
              <a:t>OpenRouter</a:t>
            </a:r>
            <a:r>
              <a:rPr lang="id-ID" sz="1100" dirty="0"/>
              <a:t>, dan bila tak ada API </a:t>
            </a:r>
            <a:r>
              <a:rPr lang="id-ID" sz="1100" dirty="0" err="1"/>
              <a:t>key</a:t>
            </a:r>
            <a:r>
              <a:rPr lang="id-ID" sz="1100" dirty="0"/>
              <a:t> valid otomatis turun ke respons berbasis aturan — demo &amp; layanan selalu jalan (ketahanan operasional).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Data </a:t>
            </a:r>
            <a:r>
              <a:rPr lang="id-ID" sz="1100" dirty="0" err="1"/>
              <a:t>quality</a:t>
            </a:r>
            <a:r>
              <a:rPr lang="id-ID" sz="1100" dirty="0"/>
              <a:t> </a:t>
            </a:r>
            <a:r>
              <a:rPr lang="id-ID" sz="1100" dirty="0" err="1"/>
              <a:t>control</a:t>
            </a:r>
            <a:r>
              <a:rPr lang="id-ID" sz="1100" dirty="0"/>
              <a:t> &amp; </a:t>
            </a:r>
            <a:r>
              <a:rPr lang="id-ID" sz="1100" dirty="0" err="1"/>
              <a:t>anomaly</a:t>
            </a:r>
            <a:r>
              <a:rPr lang="id-ID" sz="1100" dirty="0"/>
              <a:t> </a:t>
            </a:r>
            <a:r>
              <a:rPr lang="id-ID" sz="1100" dirty="0" err="1"/>
              <a:t>detection</a:t>
            </a:r>
            <a:r>
              <a:rPr lang="id-ID" sz="1100" dirty="0"/>
              <a:t>: </a:t>
            </a:r>
            <a:r>
              <a:rPr lang="id-ID" sz="1100" dirty="0" err="1"/>
              <a:t>deduplikasi</a:t>
            </a:r>
            <a:r>
              <a:rPr lang="id-ID" sz="1100" dirty="0"/>
              <a:t>, standardisasi SKU (</a:t>
            </a:r>
            <a:r>
              <a:rPr lang="id-ID" sz="1100" dirty="0" err="1"/>
              <a:t>fuzzy</a:t>
            </a:r>
            <a:r>
              <a:rPr lang="id-ID" sz="1100" dirty="0"/>
              <a:t> </a:t>
            </a:r>
            <a:r>
              <a:rPr lang="id-ID" sz="1100" dirty="0" err="1"/>
              <a:t>matching</a:t>
            </a:r>
            <a:r>
              <a:rPr lang="id-ID" sz="1100" dirty="0"/>
              <a:t>), serta deteksi pengeluaran anomali pada </a:t>
            </a:r>
            <a:r>
              <a:rPr lang="id-ID" sz="1100" dirty="0" err="1"/>
              <a:t>Cashbook</a:t>
            </a:r>
            <a:r>
              <a:rPr lang="id-ID" sz="11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 err="1"/>
              <a:t>Forecasting</a:t>
            </a:r>
            <a:r>
              <a:rPr lang="id-ID" sz="1100" dirty="0"/>
              <a:t> </a:t>
            </a:r>
            <a:r>
              <a:rPr lang="id-ID" sz="1100" dirty="0" err="1"/>
              <a:t>hybrid</a:t>
            </a:r>
            <a:r>
              <a:rPr lang="id-ID" sz="1100" dirty="0"/>
              <a:t> (</a:t>
            </a:r>
            <a:r>
              <a:rPr lang="id-ID" sz="1100" dirty="0" err="1"/>
              <a:t>roadmap</a:t>
            </a:r>
            <a:r>
              <a:rPr lang="id-ID" sz="1100" dirty="0"/>
              <a:t>): </a:t>
            </a:r>
            <a:r>
              <a:rPr lang="id-ID" sz="1100" dirty="0" err="1"/>
              <a:t>Prophet</a:t>
            </a:r>
            <a:r>
              <a:rPr lang="id-ID" sz="1100" dirty="0"/>
              <a:t>/ARIMA untuk histori ≥3 bulan, </a:t>
            </a:r>
            <a:r>
              <a:rPr lang="id-ID" sz="1100" dirty="0" err="1"/>
              <a:t>weighted</a:t>
            </a:r>
            <a:r>
              <a:rPr lang="id-ID" sz="1100" dirty="0"/>
              <a:t> </a:t>
            </a:r>
            <a:r>
              <a:rPr lang="id-ID" sz="1100" dirty="0" err="1"/>
              <a:t>moving</a:t>
            </a:r>
            <a:r>
              <a:rPr lang="id-ID" sz="1100" dirty="0"/>
              <a:t> </a:t>
            </a:r>
            <a:r>
              <a:rPr lang="id-ID" sz="1100" dirty="0" err="1"/>
              <a:t>average</a:t>
            </a:r>
            <a:r>
              <a:rPr lang="id-ID" sz="1100" dirty="0"/>
              <a:t> untuk data terbatas — menyesuaikan keterbatasan data UMKM.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 err="1"/>
              <a:t>Geospatial</a:t>
            </a:r>
            <a:r>
              <a:rPr lang="id-ID" sz="1100" dirty="0"/>
              <a:t> </a:t>
            </a:r>
            <a:r>
              <a:rPr lang="id-ID" sz="1100" dirty="0" err="1"/>
              <a:t>mapping</a:t>
            </a:r>
            <a:r>
              <a:rPr lang="id-ID" sz="1100" dirty="0"/>
              <a:t> (</a:t>
            </a:r>
            <a:r>
              <a:rPr lang="id-ID" sz="1100" dirty="0" err="1"/>
              <a:t>Leaflet</a:t>
            </a:r>
            <a:r>
              <a:rPr lang="id-ID" sz="1100" dirty="0"/>
              <a:t>) pada Investor </a:t>
            </a:r>
            <a:r>
              <a:rPr lang="id-ID" sz="1100" dirty="0" err="1"/>
              <a:t>Dashboard</a:t>
            </a:r>
            <a:r>
              <a:rPr lang="id-ID" sz="1100" dirty="0"/>
              <a:t> untuk </a:t>
            </a:r>
            <a:r>
              <a:rPr lang="id-ID" sz="1100" dirty="0" err="1"/>
              <a:t>discovery</a:t>
            </a:r>
            <a:r>
              <a:rPr lang="id-ID" sz="1100" dirty="0"/>
              <a:t> UMKM per lokasi.</a:t>
            </a:r>
          </a:p>
          <a:p>
            <a:endParaRPr lang="en-US" sz="1100" dirty="0"/>
          </a:p>
          <a:p>
            <a:r>
              <a:rPr lang="id-ID" sz="1100" dirty="0"/>
              <a:t>Setiap teknologi punya fungsi jelas terhadap masalah: akurasi skor, kepercayaan data, kemudahan adopsi, dan ketahanan sistem — bukan teknologi demi teknologi.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746425" y="1993900"/>
            <a:ext cx="6033638" cy="117813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INNOVATION &amp; DIFFERENTIATION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6425" y="1164590"/>
            <a:ext cx="3739853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500" b="1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Creativity in Implementation  (maks 250 kata)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15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A20E0B2-C651-A593-7F03-B268400B1CF4}"/>
              </a:ext>
            </a:extLst>
          </p:cNvPr>
          <p:cNvSpPr/>
          <p:nvPr/>
        </p:nvSpPr>
        <p:spPr>
          <a:xfrm>
            <a:off x="746425" y="1917700"/>
            <a:ext cx="6033638" cy="3657600"/>
          </a:xfrm>
          <a:custGeom>
            <a:avLst/>
            <a:gdLst/>
            <a:ahLst/>
            <a:cxnLst/>
            <a:rect l="l" t="t" r="r" b="b"/>
            <a:pathLst>
              <a:path w="1689312" h="1210280">
                <a:moveTo>
                  <a:pt x="0" y="0"/>
                </a:moveTo>
                <a:lnTo>
                  <a:pt x="1689312" y="0"/>
                </a:lnTo>
                <a:lnTo>
                  <a:pt x="1689312" y="1210280"/>
                </a:lnTo>
                <a:lnTo>
                  <a:pt x="0" y="12102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/>
          <a:lstStyle/>
          <a:p>
            <a:r>
              <a:rPr lang="id-ID" sz="1100" dirty="0"/>
              <a:t>Kreativitas pada cara solusi diadopsi, didistribusikan, dan </a:t>
            </a:r>
            <a:r>
              <a:rPr lang="id-ID" sz="1100" dirty="0" err="1"/>
              <a:t>dimonetisasi</a:t>
            </a:r>
            <a:r>
              <a:rPr lang="id-ID" sz="1100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 err="1"/>
              <a:t>Onboarding</a:t>
            </a:r>
            <a:r>
              <a:rPr lang="id-ID" sz="1100" dirty="0"/>
              <a:t> tanpa friksi: gratis untuk masuk; UMKM cukup memakai POS/</a:t>
            </a:r>
            <a:r>
              <a:rPr lang="id-ID" sz="1100" dirty="0" err="1"/>
              <a:t>Cashbook</a:t>
            </a:r>
            <a:r>
              <a:rPr lang="id-ID" sz="1100" dirty="0"/>
              <a:t> seperti biasa, lalu skor &amp; </a:t>
            </a:r>
            <a:r>
              <a:rPr lang="id-ID" sz="1100" dirty="0" err="1"/>
              <a:t>insight</a:t>
            </a:r>
            <a:r>
              <a:rPr lang="id-ID" sz="1100" dirty="0"/>
              <a:t> muncul otomatis. Impor CSV/Google </a:t>
            </a:r>
            <a:r>
              <a:rPr lang="id-ID" sz="1100" dirty="0" err="1"/>
              <a:t>Sheets</a:t>
            </a:r>
            <a:r>
              <a:rPr lang="id-ID" sz="1100" dirty="0"/>
              <a:t> memindahkan data lama; foto produk otomatis (</a:t>
            </a:r>
            <a:r>
              <a:rPr lang="id-ID" sz="1100" dirty="0" err="1"/>
              <a:t>Pexels</a:t>
            </a:r>
            <a:r>
              <a:rPr lang="id-ID" sz="1100" dirty="0"/>
              <a:t>) mempercepat setup katalog.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AI </a:t>
            </a:r>
            <a:r>
              <a:rPr lang="id-ID" sz="1100" dirty="0" err="1"/>
              <a:t>Coach</a:t>
            </a:r>
            <a:r>
              <a:rPr lang="id-ID" sz="1100" dirty="0"/>
              <a:t> sebagai 'mentor', bukan </a:t>
            </a:r>
            <a:r>
              <a:rPr lang="id-ID" sz="1100" dirty="0" err="1"/>
              <a:t>software</a:t>
            </a:r>
            <a:r>
              <a:rPr lang="id-ID" sz="1100" dirty="0"/>
              <a:t>: Rinda menyapa proaktif saat skor turun ('laba bulan ini turun 11%, boleh saya bantu?') sehingga UMKM terdorong terus mencatat — mesin </a:t>
            </a:r>
            <a:r>
              <a:rPr lang="id-ID" sz="1100" dirty="0" err="1"/>
              <a:t>engagement</a:t>
            </a:r>
            <a:r>
              <a:rPr lang="id-ID" sz="1100" dirty="0"/>
              <a:t> yang juga memberi data </a:t>
            </a:r>
            <a:r>
              <a:rPr lang="id-ID" sz="1100" dirty="0" err="1"/>
              <a:t>flywheel</a:t>
            </a:r>
            <a:r>
              <a:rPr lang="id-ID" sz="11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Distribusi berbasis komunitas: masuk lewat komunitas </a:t>
            </a:r>
            <a:r>
              <a:rPr lang="id-ID" sz="1100" dirty="0" err="1"/>
              <a:t>WhatsApp</a:t>
            </a:r>
            <a:r>
              <a:rPr lang="id-ID" sz="1100" dirty="0"/>
              <a:t> warung digital, Instagram UMKM lokal, dan bazar/</a:t>
            </a:r>
            <a:r>
              <a:rPr lang="id-ID" sz="1100" dirty="0" err="1"/>
              <a:t>event</a:t>
            </a:r>
            <a:r>
              <a:rPr lang="id-ID" sz="1100" dirty="0"/>
              <a:t> — bukan iklan mahal, sehingga CAC rendah.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Strategi dua sisi yang saling menarik: UMKM dapat visibilitas ke investor; investor dapat </a:t>
            </a:r>
            <a:r>
              <a:rPr lang="id-ID" sz="1100" dirty="0" err="1"/>
              <a:t>deal</a:t>
            </a:r>
            <a:r>
              <a:rPr lang="id-ID" sz="1100" dirty="0"/>
              <a:t> </a:t>
            </a:r>
            <a:r>
              <a:rPr lang="id-ID" sz="1100" dirty="0" err="1"/>
              <a:t>flow</a:t>
            </a:r>
            <a:r>
              <a:rPr lang="id-ID" sz="1100" dirty="0"/>
              <a:t> tersaring. Proposal pendanaan PDF satu klik menjadi 'jembatan' konkret dari skor ke percakapan pendanaan.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 err="1"/>
              <a:t>Monetisasi</a:t>
            </a:r>
            <a:r>
              <a:rPr lang="id-ID" sz="1100" dirty="0"/>
              <a:t> bertahap: </a:t>
            </a:r>
            <a:r>
              <a:rPr lang="id-ID" sz="1100" dirty="0" err="1"/>
              <a:t>freemium</a:t>
            </a:r>
            <a:r>
              <a:rPr lang="id-ID" sz="1100" dirty="0"/>
              <a:t> untuk akuisisi, Pro untuk UMKM serius, Investor Access &amp; API B2B untuk lembaga pembiayaan, lalu </a:t>
            </a:r>
            <a:r>
              <a:rPr lang="id-ID" sz="1100" dirty="0" err="1"/>
              <a:t>matching</a:t>
            </a:r>
            <a:r>
              <a:rPr lang="id-ID" sz="1100" dirty="0"/>
              <a:t> </a:t>
            </a:r>
            <a:r>
              <a:rPr lang="id-ID" sz="1100" dirty="0" err="1"/>
              <a:t>fee</a:t>
            </a:r>
            <a:r>
              <a:rPr lang="id-ID" sz="1100" dirty="0"/>
              <a:t> saat </a:t>
            </a:r>
            <a:r>
              <a:rPr lang="id-ID" sz="1100" dirty="0" err="1"/>
              <a:t>deal</a:t>
            </a:r>
            <a:r>
              <a:rPr lang="id-ID" sz="1100" dirty="0"/>
              <a:t> terjadi — pendapatan tumbuh seiring nilai, tanpa membebani UMKM di awal.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Insentif kelengkapan data: </a:t>
            </a:r>
            <a:r>
              <a:rPr lang="id-ID" sz="1100" dirty="0" err="1"/>
              <a:t>checklist</a:t>
            </a:r>
            <a:r>
              <a:rPr lang="id-ID" sz="1100" dirty="0"/>
              <a:t> 'menuju siap didanai' di </a:t>
            </a:r>
            <a:r>
              <a:rPr lang="id-ID" sz="1100" dirty="0" err="1"/>
              <a:t>dashboard</a:t>
            </a:r>
            <a:r>
              <a:rPr lang="id-ID" sz="1100" dirty="0"/>
              <a:t> mengubah pelengkapan data menjadi langkah </a:t>
            </a:r>
            <a:r>
              <a:rPr lang="id-ID" sz="1100" dirty="0" err="1"/>
              <a:t>bergamifikasi</a:t>
            </a:r>
            <a:r>
              <a:rPr lang="id-ID" sz="1100" dirty="0"/>
              <a:t> yang memperbaiki skor.</a:t>
            </a:r>
          </a:p>
          <a:p>
            <a:endParaRPr lang="en-US" sz="1100" dirty="0"/>
          </a:p>
          <a:p>
            <a:r>
              <a:rPr lang="id-ID" sz="1100" dirty="0"/>
              <a:t>Pendekatan ini membuat solusi mudah diadopsi UMKM dengan </a:t>
            </a:r>
            <a:r>
              <a:rPr lang="id-ID" sz="1100" dirty="0" err="1"/>
              <a:t>literasi</a:t>
            </a:r>
            <a:r>
              <a:rPr lang="id-ID" sz="1100" dirty="0"/>
              <a:t> digital terbatas sekaligus menarik bagi investor.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746425" y="1993900"/>
            <a:ext cx="6033638" cy="117813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TECHNICAL VALIDATION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6425" y="1164590"/>
            <a:ext cx="3739853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500" b="1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System Architecture  (maks 250 kata)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16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A20E0B2-C651-A593-7F03-B268400B1CF4}"/>
              </a:ext>
            </a:extLst>
          </p:cNvPr>
          <p:cNvSpPr/>
          <p:nvPr/>
        </p:nvSpPr>
        <p:spPr>
          <a:xfrm>
            <a:off x="746425" y="1917700"/>
            <a:ext cx="6033638" cy="3276600"/>
          </a:xfrm>
          <a:custGeom>
            <a:avLst/>
            <a:gdLst/>
            <a:ahLst/>
            <a:cxnLst/>
            <a:rect l="l" t="t" r="r" b="b"/>
            <a:pathLst>
              <a:path w="1689312" h="1210280">
                <a:moveTo>
                  <a:pt x="0" y="0"/>
                </a:moveTo>
                <a:lnTo>
                  <a:pt x="1689312" y="0"/>
                </a:lnTo>
                <a:lnTo>
                  <a:pt x="1689312" y="1210280"/>
                </a:lnTo>
                <a:lnTo>
                  <a:pt x="0" y="12102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/>
          <a:lstStyle/>
          <a:p>
            <a:pPr algn="just"/>
            <a:r>
              <a:rPr lang="id-ID" sz="1100" dirty="0"/>
              <a:t>Arsitektur (</a:t>
            </a:r>
            <a:r>
              <a:rPr lang="id-ID" sz="1100" dirty="0" err="1"/>
              <a:t>mobile-first</a:t>
            </a:r>
            <a:r>
              <a:rPr lang="id-ID" sz="1100" dirty="0"/>
              <a:t>, </a:t>
            </a:r>
            <a:r>
              <a:rPr lang="id-ID" sz="1100" dirty="0" err="1"/>
              <a:t>multi-tenant</a:t>
            </a:r>
            <a:r>
              <a:rPr lang="id-ID" sz="1100" dirty="0"/>
              <a:t>):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id-ID" sz="1100" dirty="0" err="1"/>
              <a:t>Frontend</a:t>
            </a:r>
            <a:r>
              <a:rPr lang="id-ID" sz="1100" dirty="0"/>
              <a:t>: Next.js 16 (</a:t>
            </a:r>
            <a:r>
              <a:rPr lang="id-ID" sz="1100" dirty="0" err="1"/>
              <a:t>App</a:t>
            </a:r>
            <a:r>
              <a:rPr lang="id-ID" sz="1100" dirty="0"/>
              <a:t> </a:t>
            </a:r>
            <a:r>
              <a:rPr lang="id-ID" sz="1100" dirty="0" err="1"/>
              <a:t>Router</a:t>
            </a:r>
            <a:r>
              <a:rPr lang="id-ID" sz="1100" dirty="0"/>
              <a:t>) + </a:t>
            </a:r>
            <a:r>
              <a:rPr lang="id-ID" sz="1100" dirty="0" err="1"/>
              <a:t>React</a:t>
            </a:r>
            <a:r>
              <a:rPr lang="id-ID" sz="1100" dirty="0"/>
              <a:t> 19 + </a:t>
            </a:r>
            <a:r>
              <a:rPr lang="id-ID" sz="1100" dirty="0" err="1"/>
              <a:t>TypeScript</a:t>
            </a:r>
            <a:r>
              <a:rPr lang="id-ID" sz="1100" dirty="0"/>
              <a:t> + </a:t>
            </a:r>
            <a:r>
              <a:rPr lang="id-ID" sz="1100" dirty="0" err="1"/>
              <a:t>Tailwind</a:t>
            </a:r>
            <a:r>
              <a:rPr lang="id-ID" sz="1100" dirty="0"/>
              <a:t> CSS v4 + </a:t>
            </a:r>
            <a:r>
              <a:rPr lang="id-ID" sz="1100" dirty="0" err="1"/>
              <a:t>shadcn</a:t>
            </a:r>
            <a:r>
              <a:rPr lang="id-ID" sz="1100" dirty="0"/>
              <a:t>/</a:t>
            </a:r>
            <a:r>
              <a:rPr lang="id-ID" sz="1100" dirty="0" err="1"/>
              <a:t>ui</a:t>
            </a:r>
            <a:r>
              <a:rPr lang="id-ID" sz="1100" dirty="0"/>
              <a:t>; PWA agar bisa diakses tanpa instalasi. Visualisasi memakai </a:t>
            </a:r>
            <a:r>
              <a:rPr lang="id-ID" sz="1100" dirty="0" err="1"/>
              <a:t>Recharts</a:t>
            </a:r>
            <a:r>
              <a:rPr lang="id-ID" sz="1100" dirty="0"/>
              <a:t>; peta investor memakai </a:t>
            </a:r>
            <a:r>
              <a:rPr lang="id-ID" sz="1100" dirty="0" err="1"/>
              <a:t>Leaflet</a:t>
            </a:r>
            <a:r>
              <a:rPr lang="id-ID" sz="1100" dirty="0"/>
              <a:t>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id-ID" sz="1100" dirty="0" err="1"/>
              <a:t>Backend</a:t>
            </a:r>
            <a:r>
              <a:rPr lang="id-ID" sz="1100" dirty="0"/>
              <a:t> &amp; data: </a:t>
            </a:r>
            <a:r>
              <a:rPr lang="id-ID" sz="1100" dirty="0" err="1"/>
              <a:t>Supabase</a:t>
            </a:r>
            <a:r>
              <a:rPr lang="id-ID" sz="1100" dirty="0"/>
              <a:t> — </a:t>
            </a:r>
            <a:r>
              <a:rPr lang="id-ID" sz="1100" dirty="0" err="1"/>
              <a:t>PostgreSQL</a:t>
            </a:r>
            <a:r>
              <a:rPr lang="id-ID" sz="1100" dirty="0"/>
              <a:t> (11 tabel inti: </a:t>
            </a:r>
            <a:r>
              <a:rPr lang="id-ID" sz="1100" dirty="0" err="1"/>
              <a:t>profiles</a:t>
            </a:r>
            <a:r>
              <a:rPr lang="id-ID" sz="1100" dirty="0"/>
              <a:t>, </a:t>
            </a:r>
            <a:r>
              <a:rPr lang="id-ID" sz="1100" dirty="0" err="1"/>
              <a:t>stores</a:t>
            </a:r>
            <a:r>
              <a:rPr lang="id-ID" sz="1100" dirty="0"/>
              <a:t>, </a:t>
            </a:r>
            <a:r>
              <a:rPr lang="id-ID" sz="1100" dirty="0" err="1"/>
              <a:t>products</a:t>
            </a:r>
            <a:r>
              <a:rPr lang="id-ID" sz="1100" dirty="0"/>
              <a:t>, </a:t>
            </a:r>
            <a:r>
              <a:rPr lang="id-ID" sz="1100" dirty="0" err="1"/>
              <a:t>transactions</a:t>
            </a:r>
            <a:r>
              <a:rPr lang="id-ID" sz="1100" dirty="0"/>
              <a:t>, </a:t>
            </a:r>
            <a:r>
              <a:rPr lang="id-ID" sz="1100" dirty="0" err="1"/>
              <a:t>transaction_items</a:t>
            </a:r>
            <a:r>
              <a:rPr lang="id-ID" sz="1100" dirty="0"/>
              <a:t>, </a:t>
            </a:r>
            <a:r>
              <a:rPr lang="id-ID" sz="1100" dirty="0" err="1"/>
              <a:t>cashbook_entries</a:t>
            </a:r>
            <a:r>
              <a:rPr lang="id-ID" sz="1100" dirty="0"/>
              <a:t>, </a:t>
            </a:r>
            <a:r>
              <a:rPr lang="id-ID" sz="1100" dirty="0" err="1"/>
              <a:t>business_scores</a:t>
            </a:r>
            <a:r>
              <a:rPr lang="id-ID" sz="1100" dirty="0"/>
              <a:t>, </a:t>
            </a:r>
            <a:r>
              <a:rPr lang="id-ID" sz="1100" dirty="0" err="1"/>
              <a:t>investment_readiness</a:t>
            </a:r>
            <a:r>
              <a:rPr lang="id-ID" sz="1100" dirty="0"/>
              <a:t>, </a:t>
            </a:r>
            <a:r>
              <a:rPr lang="id-ID" sz="1100" dirty="0" err="1"/>
              <a:t>ai_coach_sessions</a:t>
            </a:r>
            <a:r>
              <a:rPr lang="id-ID" sz="1100" dirty="0"/>
              <a:t>, </a:t>
            </a:r>
            <a:r>
              <a:rPr lang="id-ID" sz="1100" dirty="0" err="1"/>
              <a:t>investor_watchlist</a:t>
            </a:r>
            <a:r>
              <a:rPr lang="id-ID" sz="1100" dirty="0"/>
              <a:t>, </a:t>
            </a:r>
            <a:r>
              <a:rPr lang="id-ID" sz="1100" dirty="0" err="1"/>
              <a:t>dll</a:t>
            </a:r>
            <a:r>
              <a:rPr lang="id-ID" sz="1100" dirty="0"/>
              <a:t>), </a:t>
            </a:r>
            <a:r>
              <a:rPr lang="id-ID" sz="1100" dirty="0" err="1"/>
              <a:t>Supabase</a:t>
            </a:r>
            <a:r>
              <a:rPr lang="id-ID" sz="1100" dirty="0"/>
              <a:t> </a:t>
            </a:r>
            <a:r>
              <a:rPr lang="id-ID" sz="1100" dirty="0" err="1"/>
              <a:t>Auth</a:t>
            </a:r>
            <a:r>
              <a:rPr lang="id-ID" sz="1100" dirty="0"/>
              <a:t>, dan </a:t>
            </a:r>
            <a:r>
              <a:rPr lang="id-ID" sz="1100" dirty="0" err="1"/>
              <a:t>Row</a:t>
            </a:r>
            <a:r>
              <a:rPr lang="id-ID" sz="1100" dirty="0"/>
              <a:t> Level </a:t>
            </a:r>
            <a:r>
              <a:rPr lang="id-ID" sz="1100" dirty="0" err="1"/>
              <a:t>Security</a:t>
            </a:r>
            <a:r>
              <a:rPr lang="id-ID" sz="1100" dirty="0"/>
              <a:t> untuk isolasi data per UMKM.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id-ID" sz="1100" dirty="0"/>
              <a:t>API &amp; logika: Next.js </a:t>
            </a:r>
            <a:r>
              <a:rPr lang="id-ID" sz="1100" dirty="0" err="1"/>
              <a:t>Route</a:t>
            </a:r>
            <a:r>
              <a:rPr lang="id-ID" sz="1100" dirty="0"/>
              <a:t> </a:t>
            </a:r>
            <a:r>
              <a:rPr lang="id-ID" sz="1100" dirty="0" err="1"/>
              <a:t>Handlers</a:t>
            </a:r>
            <a:r>
              <a:rPr lang="id-ID" sz="1100" dirty="0"/>
              <a:t> untuk perhitungan skor (/api/</a:t>
            </a:r>
            <a:r>
              <a:rPr lang="id-ID" sz="1100" dirty="0" err="1"/>
              <a:t>scores</a:t>
            </a:r>
            <a:r>
              <a:rPr lang="id-ID" sz="1100" dirty="0"/>
              <a:t>/</a:t>
            </a:r>
            <a:r>
              <a:rPr lang="id-ID" sz="1100" dirty="0" err="1"/>
              <a:t>calculate</a:t>
            </a:r>
            <a:r>
              <a:rPr lang="id-ID" sz="1100" dirty="0"/>
              <a:t>), AI </a:t>
            </a:r>
            <a:r>
              <a:rPr lang="id-ID" sz="1100" dirty="0" err="1"/>
              <a:t>Coach</a:t>
            </a:r>
            <a:r>
              <a:rPr lang="id-ID" sz="1100" dirty="0"/>
              <a:t> </a:t>
            </a:r>
            <a:r>
              <a:rPr lang="id-ID" sz="1100" dirty="0" err="1"/>
              <a:t>streaming</a:t>
            </a:r>
            <a:r>
              <a:rPr lang="id-ID" sz="1100" dirty="0"/>
              <a:t> (SSE), ekspor </a:t>
            </a:r>
            <a:r>
              <a:rPr lang="id-ID" sz="1100" dirty="0" err="1"/>
              <a:t>Cashbook</a:t>
            </a:r>
            <a:r>
              <a:rPr lang="id-ID" sz="1100" dirty="0"/>
              <a:t>, impor produk, dan generator proposal PDF (@react-pdf).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id-ID" sz="1100" dirty="0"/>
              <a:t>AI layer: abstraksi </a:t>
            </a:r>
            <a:r>
              <a:rPr lang="id-ID" sz="1100" dirty="0" err="1"/>
              <a:t>multi-provider</a:t>
            </a:r>
            <a:r>
              <a:rPr lang="id-ID" sz="1100" dirty="0"/>
              <a:t> (</a:t>
            </a:r>
            <a:r>
              <a:rPr lang="id-ID" sz="1100" dirty="0" err="1"/>
              <a:t>Claude</a:t>
            </a:r>
            <a:r>
              <a:rPr lang="id-ID" sz="1100" dirty="0"/>
              <a:t>/Gemini/</a:t>
            </a:r>
            <a:r>
              <a:rPr lang="id-ID" sz="1100" dirty="0" err="1"/>
              <a:t>OpenAI</a:t>
            </a:r>
            <a:r>
              <a:rPr lang="id-ID" sz="1100" dirty="0"/>
              <a:t>/</a:t>
            </a:r>
            <a:r>
              <a:rPr lang="id-ID" sz="1100" dirty="0" err="1"/>
              <a:t>OpenRouter</a:t>
            </a:r>
            <a:r>
              <a:rPr lang="id-ID" sz="1100" dirty="0"/>
              <a:t>) + </a:t>
            </a:r>
            <a:r>
              <a:rPr lang="id-ID" sz="1100" dirty="0" err="1"/>
              <a:t>fallback</a:t>
            </a:r>
            <a:r>
              <a:rPr lang="id-ID" sz="1100" dirty="0"/>
              <a:t> </a:t>
            </a:r>
            <a:r>
              <a:rPr lang="id-ID" sz="1100" dirty="0" err="1"/>
              <a:t>rule-based</a:t>
            </a:r>
            <a:r>
              <a:rPr lang="id-ID" sz="1100" dirty="0"/>
              <a:t>; RAG memakai konteks data toko.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id-ID" sz="1100" dirty="0"/>
              <a:t>Modul fungsional: </a:t>
            </a:r>
            <a:r>
              <a:rPr lang="id-ID" sz="1100" dirty="0" err="1"/>
              <a:t>Smart</a:t>
            </a:r>
            <a:r>
              <a:rPr lang="id-ID" sz="1100" dirty="0"/>
              <a:t> POS, </a:t>
            </a:r>
            <a:r>
              <a:rPr lang="id-ID" sz="1100" dirty="0" err="1"/>
              <a:t>Smart</a:t>
            </a:r>
            <a:r>
              <a:rPr lang="id-ID" sz="1100" dirty="0"/>
              <a:t> </a:t>
            </a:r>
            <a:r>
              <a:rPr lang="id-ID" sz="1100" dirty="0" err="1"/>
              <a:t>Cashbook</a:t>
            </a:r>
            <a:r>
              <a:rPr lang="id-ID" sz="1100" dirty="0"/>
              <a:t>, </a:t>
            </a:r>
            <a:r>
              <a:rPr lang="id-ID" sz="1100" dirty="0" err="1"/>
              <a:t>Health</a:t>
            </a:r>
            <a:r>
              <a:rPr lang="id-ID" sz="1100" dirty="0"/>
              <a:t> </a:t>
            </a:r>
            <a:r>
              <a:rPr lang="id-ID" sz="1100" dirty="0" err="1"/>
              <a:t>Score</a:t>
            </a:r>
            <a:r>
              <a:rPr lang="id-ID" sz="1100" dirty="0"/>
              <a:t>, Investment </a:t>
            </a:r>
            <a:r>
              <a:rPr lang="id-ID" sz="1100" dirty="0" err="1"/>
              <a:t>Readiness</a:t>
            </a:r>
            <a:r>
              <a:rPr lang="id-ID" sz="1100" dirty="0"/>
              <a:t>, AI </a:t>
            </a:r>
            <a:r>
              <a:rPr lang="id-ID" sz="1100" dirty="0" err="1"/>
              <a:t>Coach</a:t>
            </a:r>
            <a:r>
              <a:rPr lang="id-ID" sz="1100" dirty="0"/>
              <a:t>, Investor </a:t>
            </a:r>
            <a:r>
              <a:rPr lang="id-ID" sz="1100" dirty="0" err="1"/>
              <a:t>Dashboard</a:t>
            </a:r>
            <a:r>
              <a:rPr lang="id-ID" sz="1100" dirty="0"/>
              <a:t> (</a:t>
            </a:r>
            <a:r>
              <a:rPr lang="id-ID" sz="1100" dirty="0" err="1"/>
              <a:t>peta+list+filter</a:t>
            </a:r>
            <a:r>
              <a:rPr lang="id-ID" sz="1100" dirty="0"/>
              <a:t>), UMKM detail, </a:t>
            </a:r>
            <a:r>
              <a:rPr lang="id-ID" sz="1100" dirty="0" err="1"/>
              <a:t>Watchlist</a:t>
            </a:r>
            <a:r>
              <a:rPr lang="id-ID" sz="1100" dirty="0"/>
              <a:t>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id-ID" sz="1100" dirty="0"/>
              <a:t>Infrastruktur: </a:t>
            </a:r>
            <a:r>
              <a:rPr lang="id-ID" sz="1100" dirty="0" err="1"/>
              <a:t>deploy</a:t>
            </a:r>
            <a:r>
              <a:rPr lang="id-ID" sz="1100" dirty="0"/>
              <a:t> di </a:t>
            </a:r>
            <a:r>
              <a:rPr lang="id-ID" sz="1100" dirty="0" err="1"/>
              <a:t>Vercel</a:t>
            </a:r>
            <a:r>
              <a:rPr lang="id-ID" sz="1100" dirty="0"/>
              <a:t> (</a:t>
            </a:r>
            <a:r>
              <a:rPr lang="id-ID" sz="1100" dirty="0" err="1"/>
              <a:t>frontend</a:t>
            </a:r>
            <a:r>
              <a:rPr lang="id-ID" sz="1100" dirty="0"/>
              <a:t>/API) + </a:t>
            </a:r>
            <a:r>
              <a:rPr lang="id-ID" sz="1100" dirty="0" err="1"/>
              <a:t>Supabase</a:t>
            </a:r>
            <a:r>
              <a:rPr lang="id-ID" sz="1100" dirty="0"/>
              <a:t> (DB/</a:t>
            </a:r>
            <a:r>
              <a:rPr lang="id-ID" sz="1100" dirty="0" err="1"/>
              <a:t>Auth</a:t>
            </a:r>
            <a:r>
              <a:rPr lang="id-ID" sz="1100" dirty="0"/>
              <a:t>/</a:t>
            </a:r>
            <a:r>
              <a:rPr lang="id-ID" sz="1100" dirty="0" err="1"/>
              <a:t>Storage</a:t>
            </a:r>
            <a:r>
              <a:rPr lang="id-ID" sz="1100" dirty="0"/>
              <a:t>), dapat berkembang dengan auto-</a:t>
            </a:r>
            <a:r>
              <a:rPr lang="id-ID" sz="1100" dirty="0" err="1"/>
              <a:t>scaling</a:t>
            </a:r>
            <a:r>
              <a:rPr lang="id-ID" sz="1100" dirty="0"/>
              <a:t>.</a:t>
            </a:r>
          </a:p>
          <a:p>
            <a:pPr algn="just"/>
            <a:endParaRPr lang="en-US" sz="1100" dirty="0"/>
          </a:p>
          <a:p>
            <a:pPr algn="just"/>
            <a:r>
              <a:rPr lang="id-ID" sz="1100" dirty="0"/>
              <a:t>Alur data: POS/</a:t>
            </a:r>
            <a:r>
              <a:rPr lang="id-ID" sz="1100" dirty="0" err="1"/>
              <a:t>Cashbook</a:t>
            </a:r>
            <a:r>
              <a:rPr lang="id-ID" sz="1100" dirty="0"/>
              <a:t> → </a:t>
            </a:r>
            <a:r>
              <a:rPr lang="id-ID" sz="1100" dirty="0" err="1"/>
              <a:t>PostgreSQL</a:t>
            </a:r>
            <a:r>
              <a:rPr lang="id-ID" sz="1100" dirty="0"/>
              <a:t> → </a:t>
            </a:r>
            <a:r>
              <a:rPr lang="id-ID" sz="1100" dirty="0" err="1"/>
              <a:t>Scoring</a:t>
            </a:r>
            <a:r>
              <a:rPr lang="id-ID" sz="1100" dirty="0"/>
              <a:t> </a:t>
            </a:r>
            <a:r>
              <a:rPr lang="id-ID" sz="1100" dirty="0" err="1"/>
              <a:t>Engine</a:t>
            </a:r>
            <a:r>
              <a:rPr lang="id-ID" sz="1100" dirty="0"/>
              <a:t> (</a:t>
            </a:r>
            <a:r>
              <a:rPr lang="id-ID" sz="1100" dirty="0" err="1"/>
              <a:t>Route</a:t>
            </a:r>
            <a:r>
              <a:rPr lang="id-ID" sz="1100" dirty="0"/>
              <a:t> </a:t>
            </a:r>
            <a:r>
              <a:rPr lang="id-ID" sz="1100" dirty="0" err="1"/>
              <a:t>Handler</a:t>
            </a:r>
            <a:r>
              <a:rPr lang="id-ID" sz="1100" dirty="0"/>
              <a:t>) → </a:t>
            </a:r>
            <a:r>
              <a:rPr lang="id-ID" sz="1100" dirty="0" err="1"/>
              <a:t>business_scores</a:t>
            </a:r>
            <a:r>
              <a:rPr lang="id-ID" sz="1100" dirty="0"/>
              <a:t> → ditampilkan ke UMKM (</a:t>
            </a:r>
            <a:r>
              <a:rPr lang="id-ID" sz="1100" dirty="0" err="1"/>
              <a:t>dashboard</a:t>
            </a:r>
            <a:r>
              <a:rPr lang="id-ID" sz="1100" dirty="0"/>
              <a:t>/AI </a:t>
            </a:r>
            <a:r>
              <a:rPr lang="id-ID" sz="1100" dirty="0" err="1"/>
              <a:t>Coach</a:t>
            </a:r>
            <a:r>
              <a:rPr lang="id-ID" sz="1100" dirty="0"/>
              <a:t>) dan ke investor (ringkasan/skor saja). Diagram alur lengkap tersedia pada lampiran/</a:t>
            </a:r>
            <a:r>
              <a:rPr lang="id-ID" sz="1100" dirty="0" err="1"/>
              <a:t>slide</a:t>
            </a:r>
            <a:r>
              <a:rPr lang="id-ID" sz="1100" dirty="0"/>
              <a:t> solusi.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746425" y="1993900"/>
            <a:ext cx="6033638" cy="117813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TECHNICAL VALIDATION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6425" y="1164590"/>
            <a:ext cx="3739853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500" b="1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Data &amp; Feasibility  (maks 200 kata)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17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A20E0B2-C651-A593-7F03-B268400B1CF4}"/>
              </a:ext>
            </a:extLst>
          </p:cNvPr>
          <p:cNvSpPr/>
          <p:nvPr/>
        </p:nvSpPr>
        <p:spPr>
          <a:xfrm>
            <a:off x="746425" y="1917700"/>
            <a:ext cx="6033638" cy="2895600"/>
          </a:xfrm>
          <a:custGeom>
            <a:avLst/>
            <a:gdLst/>
            <a:ahLst/>
            <a:cxnLst/>
            <a:rect l="l" t="t" r="r" b="b"/>
            <a:pathLst>
              <a:path w="1689312" h="1210280">
                <a:moveTo>
                  <a:pt x="0" y="0"/>
                </a:moveTo>
                <a:lnTo>
                  <a:pt x="1689312" y="0"/>
                </a:lnTo>
                <a:lnTo>
                  <a:pt x="1689312" y="1210280"/>
                </a:lnTo>
                <a:lnTo>
                  <a:pt x="0" y="12102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/>
          <a:lstStyle/>
          <a:p>
            <a:pPr algn="just"/>
            <a:r>
              <a:rPr lang="id-ID" sz="1100" dirty="0"/>
              <a:t>Data utama bersifat </a:t>
            </a:r>
            <a:r>
              <a:rPr lang="id-ID" sz="1100" dirty="0" err="1"/>
              <a:t>first-party</a:t>
            </a:r>
            <a:r>
              <a:rPr lang="id-ID" sz="1100" dirty="0"/>
              <a:t> — berasal dari operasional UMKM sendiri: transaksi penjualan, produk/SKU, stok, dan arus kas (pemasukan, pengeluaran, hutang, piutang). Sumber: </a:t>
            </a:r>
            <a:r>
              <a:rPr lang="id-ID" sz="1100" dirty="0" err="1"/>
              <a:t>input</a:t>
            </a:r>
            <a:r>
              <a:rPr lang="id-ID" sz="1100" dirty="0"/>
              <a:t> </a:t>
            </a:r>
            <a:r>
              <a:rPr lang="id-ID" sz="1100" dirty="0" err="1"/>
              <a:t>Smart</a:t>
            </a:r>
            <a:r>
              <a:rPr lang="id-ID" sz="1100" dirty="0"/>
              <a:t> POS &amp; </a:t>
            </a:r>
            <a:r>
              <a:rPr lang="id-ID" sz="1100" dirty="0" err="1"/>
              <a:t>Smart</a:t>
            </a:r>
            <a:r>
              <a:rPr lang="id-ID" sz="1100" dirty="0"/>
              <a:t> </a:t>
            </a:r>
            <a:r>
              <a:rPr lang="id-ID" sz="1100" dirty="0" err="1"/>
              <a:t>Cashbook</a:t>
            </a:r>
            <a:r>
              <a:rPr lang="id-ID" sz="1100" dirty="0"/>
              <a:t>, plus impor CSV/Google </a:t>
            </a:r>
            <a:r>
              <a:rPr lang="id-ID" sz="1100" dirty="0" err="1"/>
              <a:t>Sheets</a:t>
            </a:r>
            <a:r>
              <a:rPr lang="id-ID" sz="1100" dirty="0"/>
              <a:t> untuk data historis; opsional integrasi </a:t>
            </a:r>
            <a:r>
              <a:rPr lang="id-ID" sz="1100" dirty="0" err="1"/>
              <a:t>marketplace</a:t>
            </a:r>
            <a:r>
              <a:rPr lang="id-ID" sz="1100" dirty="0"/>
              <a:t> (</a:t>
            </a:r>
            <a:r>
              <a:rPr lang="id-ID" sz="1100" dirty="0" err="1"/>
              <a:t>GoFood</a:t>
            </a:r>
            <a:r>
              <a:rPr lang="id-ID" sz="1100" dirty="0"/>
              <a:t>/</a:t>
            </a:r>
            <a:r>
              <a:rPr lang="id-ID" sz="1100" dirty="0" err="1"/>
              <a:t>GrabFood</a:t>
            </a:r>
            <a:r>
              <a:rPr lang="id-ID" sz="1100" dirty="0"/>
              <a:t>) di tahap lanjut.</a:t>
            </a:r>
            <a:endParaRPr lang="en-US" sz="1100" dirty="0"/>
          </a:p>
          <a:p>
            <a:pPr algn="just"/>
            <a:endParaRPr lang="id-ID" sz="1100" dirty="0"/>
          </a:p>
          <a:p>
            <a:pPr algn="just"/>
            <a:r>
              <a:rPr lang="id-ID" sz="1100" dirty="0"/>
              <a:t>Format: data </a:t>
            </a:r>
            <a:r>
              <a:rPr lang="id-ID" sz="1100" dirty="0" err="1"/>
              <a:t>transaksional</a:t>
            </a:r>
            <a:r>
              <a:rPr lang="id-ID" sz="1100" dirty="0"/>
              <a:t> terstruktur (tabel relasional </a:t>
            </a:r>
            <a:r>
              <a:rPr lang="id-ID" sz="1100" dirty="0" err="1"/>
              <a:t>PostgreSQL</a:t>
            </a:r>
            <a:r>
              <a:rPr lang="id-ID" sz="1100" dirty="0"/>
              <a:t>). Cara perolehan: dihasilkan langsung oleh pemakaian harian, sehingga tidak bergantung pada data pihak ketiga yang sulit diakses/izin.</a:t>
            </a:r>
            <a:endParaRPr lang="en-US" sz="1100" dirty="0"/>
          </a:p>
          <a:p>
            <a:pPr algn="just"/>
            <a:endParaRPr lang="id-ID" sz="1100" dirty="0"/>
          </a:p>
          <a:p>
            <a:pPr algn="just"/>
            <a:r>
              <a:rPr lang="id-ID" sz="1100" dirty="0"/>
              <a:t>Ketersediaan: untuk demo, data sudah tersedia &amp; ter-</a:t>
            </a:r>
            <a:r>
              <a:rPr lang="id-ID" sz="1100" dirty="0" err="1"/>
              <a:t>seed</a:t>
            </a:r>
            <a:r>
              <a:rPr lang="id-ID" sz="1100" dirty="0"/>
              <a:t> — akun UMKM 'Warung Makan Bu Siti' (±75 transaksi sepanjang ~90+ hari) dan 10+ UMKM F&amp;B Yogyakarta untuk sisi investor (skor 49–86). Untuk pilot, data dikumpulkan dari UMKM peserta.</a:t>
            </a:r>
            <a:endParaRPr lang="en-US" sz="1100" dirty="0"/>
          </a:p>
          <a:p>
            <a:pPr algn="just"/>
            <a:endParaRPr lang="id-ID" sz="1100" dirty="0"/>
          </a:p>
          <a:p>
            <a:pPr algn="just"/>
            <a:r>
              <a:rPr lang="id-ID" sz="1100" dirty="0"/>
              <a:t>Kualitas &amp; keandalan: </a:t>
            </a:r>
            <a:r>
              <a:rPr lang="id-ID" sz="1100" dirty="0" err="1"/>
              <a:t>pipeline</a:t>
            </a:r>
            <a:r>
              <a:rPr lang="id-ID" sz="1100" dirty="0"/>
              <a:t> membersihkan, </a:t>
            </a:r>
            <a:r>
              <a:rPr lang="id-ID" sz="1100" dirty="0" err="1"/>
              <a:t>deduplikasi</a:t>
            </a:r>
            <a:r>
              <a:rPr lang="id-ID" sz="1100" dirty="0"/>
              <a:t>, dan menstandarkan data; skor hanya dihitung bila kelengkapan ≥60% dan tanpa anomali signifikan. Pendekatan data-</a:t>
            </a:r>
            <a:r>
              <a:rPr lang="id-ID" sz="1100" dirty="0" err="1"/>
              <a:t>grounded</a:t>
            </a:r>
            <a:r>
              <a:rPr lang="id-ID" sz="1100" dirty="0"/>
              <a:t> (RAG) + </a:t>
            </a:r>
            <a:r>
              <a:rPr lang="id-ID" sz="1100" dirty="0" err="1"/>
              <a:t>guardrail</a:t>
            </a:r>
            <a:r>
              <a:rPr lang="id-ID" sz="1100" dirty="0"/>
              <a:t> menjaga </a:t>
            </a:r>
            <a:r>
              <a:rPr lang="id-ID" sz="1100" dirty="0" err="1"/>
              <a:t>output</a:t>
            </a:r>
            <a:r>
              <a:rPr lang="id-ID" sz="1100" dirty="0"/>
              <a:t> tetap akurat &amp; </a:t>
            </a:r>
            <a:r>
              <a:rPr lang="id-ID" sz="1100" dirty="0" err="1"/>
              <a:t>tepercaya</a:t>
            </a:r>
            <a:r>
              <a:rPr lang="id-ID" sz="1100" dirty="0"/>
              <a:t> bagi UMKM maupun investor.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746425" y="1993900"/>
            <a:ext cx="6033638" cy="117813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TECHNICAL VALIDATION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6425" y="1164590"/>
            <a:ext cx="3739853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500" b="1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Security &amp; Compliance  (maks 200 kata)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18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A20E0B2-C651-A593-7F03-B268400B1CF4}"/>
              </a:ext>
            </a:extLst>
          </p:cNvPr>
          <p:cNvSpPr/>
          <p:nvPr/>
        </p:nvSpPr>
        <p:spPr>
          <a:xfrm>
            <a:off x="746425" y="1917700"/>
            <a:ext cx="6033638" cy="3124200"/>
          </a:xfrm>
          <a:custGeom>
            <a:avLst/>
            <a:gdLst/>
            <a:ahLst/>
            <a:cxnLst/>
            <a:rect l="l" t="t" r="r" b="b"/>
            <a:pathLst>
              <a:path w="1689312" h="1210280">
                <a:moveTo>
                  <a:pt x="0" y="0"/>
                </a:moveTo>
                <a:lnTo>
                  <a:pt x="1689312" y="0"/>
                </a:lnTo>
                <a:lnTo>
                  <a:pt x="1689312" y="1210280"/>
                </a:lnTo>
                <a:lnTo>
                  <a:pt x="0" y="12102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/>
          <a:lstStyle/>
          <a:p>
            <a:r>
              <a:rPr lang="id-ID" sz="1100" dirty="0"/>
              <a:t>Keamanan &amp; kepatuhan menjadi fondasi karena menyangkut data keuangan UMKM: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Isolasi data: </a:t>
            </a:r>
            <a:r>
              <a:rPr lang="id-ID" sz="1100" dirty="0" err="1"/>
              <a:t>Row</a:t>
            </a:r>
            <a:r>
              <a:rPr lang="id-ID" sz="1100" dirty="0"/>
              <a:t> Level </a:t>
            </a:r>
            <a:r>
              <a:rPr lang="id-ID" sz="1100" dirty="0" err="1"/>
              <a:t>Security</a:t>
            </a:r>
            <a:r>
              <a:rPr lang="id-ID" sz="1100" dirty="0"/>
              <a:t> (RLS) per UMKM di </a:t>
            </a:r>
            <a:r>
              <a:rPr lang="id-ID" sz="1100" dirty="0" err="1"/>
              <a:t>Supabase</a:t>
            </a:r>
            <a:r>
              <a:rPr lang="id-ID" sz="1100" dirty="0"/>
              <a:t> — setiap UMKM hanya mengakses datanya sendiri.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Data </a:t>
            </a:r>
            <a:r>
              <a:rPr lang="id-ID" sz="1100" dirty="0" err="1"/>
              <a:t>minimization</a:t>
            </a:r>
            <a:r>
              <a:rPr lang="id-ID" sz="1100" dirty="0"/>
              <a:t> untuk investor: investor hanya melihat skor &amp; ringkasan, tidak pernah transaksi/</a:t>
            </a:r>
            <a:r>
              <a:rPr lang="id-ID" sz="1100" dirty="0" err="1"/>
              <a:t>cashbook</a:t>
            </a:r>
            <a:r>
              <a:rPr lang="id-ID" sz="1100" dirty="0"/>
              <a:t> mentah. Profil UMKM ditampilkan ke investor hanya setelah persetujuan UMKM (</a:t>
            </a:r>
            <a:r>
              <a:rPr lang="id-ID" sz="1100" dirty="0" err="1"/>
              <a:t>consent</a:t>
            </a:r>
            <a:r>
              <a:rPr lang="id-ID" sz="1100" dirty="0"/>
              <a:t>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Kontrol akses berbasis peran (UMKM vs Investor) + </a:t>
            </a:r>
            <a:r>
              <a:rPr lang="id-ID" sz="1100" dirty="0" err="1"/>
              <a:t>autentikasi</a:t>
            </a:r>
            <a:r>
              <a:rPr lang="id-ID" sz="1100" dirty="0"/>
              <a:t> </a:t>
            </a:r>
            <a:r>
              <a:rPr lang="id-ID" sz="1100" dirty="0" err="1"/>
              <a:t>Supabase</a:t>
            </a:r>
            <a:r>
              <a:rPr lang="id-ID" sz="1100" dirty="0"/>
              <a:t> </a:t>
            </a:r>
            <a:r>
              <a:rPr lang="id-ID" sz="1100" dirty="0" err="1"/>
              <a:t>Auth</a:t>
            </a:r>
            <a:r>
              <a:rPr lang="id-ID" sz="1100" dirty="0"/>
              <a:t> (email/</a:t>
            </a:r>
            <a:r>
              <a:rPr lang="id-ID" sz="1100" dirty="0" err="1"/>
              <a:t>password</a:t>
            </a:r>
            <a:r>
              <a:rPr lang="id-ID" sz="1100" dirty="0"/>
              <a:t>, verifikasi email).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Enkripsi in-transit (HTTPS/TLS) dan penyimpanan </a:t>
            </a:r>
            <a:r>
              <a:rPr lang="id-ID" sz="1100" dirty="0" err="1"/>
              <a:t>at-rest</a:t>
            </a:r>
            <a:r>
              <a:rPr lang="id-ID" sz="1100" dirty="0"/>
              <a:t> terkelola </a:t>
            </a:r>
            <a:r>
              <a:rPr lang="id-ID" sz="1100" dirty="0" err="1"/>
              <a:t>Supabase</a:t>
            </a:r>
            <a:r>
              <a:rPr lang="id-ID" sz="1100" dirty="0"/>
              <a:t>; audit log untuk setiap akses data demi integritas.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Kepatuhan: selaras UU No. 27/2022 tentang Perlindungan Data Pribadi (persetujuan, hak subjek data, </a:t>
            </a:r>
            <a:r>
              <a:rPr lang="id-ID" sz="1100" dirty="0" err="1"/>
              <a:t>minimisasi</a:t>
            </a:r>
            <a:r>
              <a:rPr lang="id-ID" sz="1100" dirty="0"/>
              <a:t>) dan POJK terkait keamanan data layanan </a:t>
            </a:r>
            <a:r>
              <a:rPr lang="id-ID" sz="1100" dirty="0" err="1"/>
              <a:t>fintech</a:t>
            </a:r>
            <a:r>
              <a:rPr lang="id-ID" sz="1100" dirty="0"/>
              <a:t>/penyelenggara ITSK; arsitektur </a:t>
            </a:r>
            <a:r>
              <a:rPr lang="id-ID" sz="1100" dirty="0" err="1"/>
              <a:t>multi-tenant</a:t>
            </a:r>
            <a:r>
              <a:rPr lang="id-ID" sz="1100" dirty="0"/>
              <a:t> dengan pemisahan tegas.</a:t>
            </a:r>
          </a:p>
          <a:p>
            <a:endParaRPr lang="en-US" sz="1100" dirty="0"/>
          </a:p>
          <a:p>
            <a:r>
              <a:rPr lang="id-ID" sz="1100" dirty="0" err="1"/>
              <a:t>Roadmap</a:t>
            </a:r>
            <a:r>
              <a:rPr lang="id-ID" sz="1100" dirty="0"/>
              <a:t> kepatuhan: kebijakan privasi &amp; </a:t>
            </a:r>
            <a:r>
              <a:rPr lang="id-ID" sz="1100" dirty="0" err="1"/>
              <a:t>ToS</a:t>
            </a:r>
            <a:r>
              <a:rPr lang="id-ID" sz="1100" dirty="0"/>
              <a:t>, data </a:t>
            </a:r>
            <a:r>
              <a:rPr lang="id-ID" sz="1100" dirty="0" err="1"/>
              <a:t>retention</a:t>
            </a:r>
            <a:r>
              <a:rPr lang="id-ID" sz="1100" dirty="0"/>
              <a:t> </a:t>
            </a:r>
            <a:r>
              <a:rPr lang="id-ID" sz="1100" dirty="0" err="1"/>
              <a:t>policy</a:t>
            </a:r>
            <a:r>
              <a:rPr lang="id-ID" sz="1100" dirty="0"/>
              <a:t>, serta </a:t>
            </a:r>
            <a:r>
              <a:rPr lang="id-ID" sz="1100" dirty="0" err="1"/>
              <a:t>penetration</a:t>
            </a:r>
            <a:r>
              <a:rPr lang="id-ID" sz="1100" dirty="0"/>
              <a:t> testing sebelum skala produksi. Prinsip </a:t>
            </a:r>
            <a:r>
              <a:rPr lang="id-ID" sz="1100" dirty="0" err="1"/>
              <a:t>privacy-by-design</a:t>
            </a:r>
            <a:r>
              <a:rPr lang="id-ID" sz="1100" dirty="0"/>
              <a:t> diterapkan sejak MVP, bukan ditambahkan belakangan.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746425" y="1993900"/>
            <a:ext cx="6033638" cy="117813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TECHNICAL VALIDATION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6425" y="1164590"/>
            <a:ext cx="3739853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500" b="1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Implementation Readiness (MVP)  (maks 300 kata)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19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A20E0B2-C651-A593-7F03-B268400B1CF4}"/>
              </a:ext>
            </a:extLst>
          </p:cNvPr>
          <p:cNvSpPr/>
          <p:nvPr/>
        </p:nvSpPr>
        <p:spPr>
          <a:xfrm>
            <a:off x="746425" y="1917700"/>
            <a:ext cx="6033638" cy="4953000"/>
          </a:xfrm>
          <a:custGeom>
            <a:avLst/>
            <a:gdLst/>
            <a:ahLst/>
            <a:cxnLst/>
            <a:rect l="l" t="t" r="r" b="b"/>
            <a:pathLst>
              <a:path w="1689312" h="1210280">
                <a:moveTo>
                  <a:pt x="0" y="0"/>
                </a:moveTo>
                <a:lnTo>
                  <a:pt x="1689312" y="0"/>
                </a:lnTo>
                <a:lnTo>
                  <a:pt x="1689312" y="1210280"/>
                </a:lnTo>
                <a:lnTo>
                  <a:pt x="0" y="12102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/>
          <a:lstStyle/>
          <a:p>
            <a:r>
              <a:rPr lang="id-ID" sz="1100" dirty="0"/>
              <a:t>Status: </a:t>
            </a:r>
            <a:r>
              <a:rPr lang="id-ID" sz="1100" dirty="0" err="1"/>
              <a:t>working</a:t>
            </a:r>
            <a:r>
              <a:rPr lang="id-ID" sz="1100" dirty="0"/>
              <a:t> </a:t>
            </a:r>
            <a:r>
              <a:rPr lang="id-ID" sz="1100" dirty="0" err="1"/>
              <a:t>prototype</a:t>
            </a:r>
            <a:r>
              <a:rPr lang="id-ID" sz="1100" dirty="0"/>
              <a:t> sudah berjalan — bukan sekadar rancangan.</a:t>
            </a:r>
          </a:p>
          <a:p>
            <a:r>
              <a:rPr lang="id-ID" sz="1100" dirty="0"/>
              <a:t>Fitur prioritas yang SUDAH ada di MVP:</a:t>
            </a:r>
            <a:endParaRPr lang="en-US" sz="1100" dirty="0"/>
          </a:p>
          <a:p>
            <a:endParaRPr lang="id-ID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 err="1"/>
              <a:t>Smart</a:t>
            </a:r>
            <a:r>
              <a:rPr lang="id-ID" sz="1100" dirty="0"/>
              <a:t> POS (transaksi, produk, stok, metode bayar termasuk QRIS).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 err="1"/>
              <a:t>Smart</a:t>
            </a:r>
            <a:r>
              <a:rPr lang="id-ID" sz="1100" dirty="0"/>
              <a:t> </a:t>
            </a:r>
            <a:r>
              <a:rPr lang="id-ID" sz="1100" dirty="0" err="1"/>
              <a:t>Cashbook</a:t>
            </a:r>
            <a:r>
              <a:rPr lang="id-ID" sz="1100" dirty="0"/>
              <a:t> (pemasukan/pengeluaran/hutang/piutang, kategorisasi, deteksi anomali, 5 grafik, ekspor CSV/PDF).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Business </a:t>
            </a:r>
            <a:r>
              <a:rPr lang="id-ID" sz="1100" dirty="0" err="1"/>
              <a:t>Health</a:t>
            </a:r>
            <a:r>
              <a:rPr lang="id-ID" sz="1100" dirty="0"/>
              <a:t> </a:t>
            </a:r>
            <a:r>
              <a:rPr lang="id-ID" sz="1100" dirty="0" err="1"/>
              <a:t>Score</a:t>
            </a:r>
            <a:r>
              <a:rPr lang="id-ID" sz="1100" dirty="0"/>
              <a:t> 0–100 (6 komponen, dihitung via API &amp; tersimpan harian).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Investment </a:t>
            </a:r>
            <a:r>
              <a:rPr lang="id-ID" sz="1100" dirty="0" err="1"/>
              <a:t>Readiness</a:t>
            </a:r>
            <a:r>
              <a:rPr lang="id-ID" sz="1100" dirty="0"/>
              <a:t> </a:t>
            </a:r>
            <a:r>
              <a:rPr lang="id-ID" sz="1100" dirty="0" err="1"/>
              <a:t>Score</a:t>
            </a:r>
            <a:r>
              <a:rPr lang="id-ID" sz="1100" dirty="0"/>
              <a:t> (Low/Medium/</a:t>
            </a:r>
            <a:r>
              <a:rPr lang="id-ID" sz="1100" dirty="0" err="1"/>
              <a:t>High</a:t>
            </a:r>
            <a:r>
              <a:rPr lang="id-ID" sz="1100" dirty="0"/>
              <a:t>) + </a:t>
            </a:r>
            <a:r>
              <a:rPr lang="id-ID" sz="1100" dirty="0" err="1"/>
              <a:t>risk</a:t>
            </a:r>
            <a:r>
              <a:rPr lang="id-ID" sz="1100" dirty="0"/>
              <a:t> </a:t>
            </a:r>
            <a:r>
              <a:rPr lang="id-ID" sz="1100" dirty="0" err="1"/>
              <a:t>flags</a:t>
            </a:r>
            <a:r>
              <a:rPr lang="id-ID" sz="1100" dirty="0"/>
              <a:t> &amp; </a:t>
            </a:r>
            <a:r>
              <a:rPr lang="id-ID" sz="1100" dirty="0" err="1"/>
              <a:t>strengths</a:t>
            </a:r>
            <a:r>
              <a:rPr lang="id-ID" sz="11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AI </a:t>
            </a:r>
            <a:r>
              <a:rPr lang="id-ID" sz="1100" dirty="0" err="1"/>
              <a:t>Coach</a:t>
            </a:r>
            <a:r>
              <a:rPr lang="id-ID" sz="1100" dirty="0"/>
              <a:t> Rinda (</a:t>
            </a:r>
            <a:r>
              <a:rPr lang="id-ID" sz="1100" dirty="0" err="1"/>
              <a:t>multi-provider</a:t>
            </a:r>
            <a:r>
              <a:rPr lang="id-ID" sz="1100" dirty="0"/>
              <a:t> + </a:t>
            </a:r>
            <a:r>
              <a:rPr lang="id-ID" sz="1100" dirty="0" err="1"/>
              <a:t>fallback</a:t>
            </a:r>
            <a:r>
              <a:rPr lang="id-ID" sz="1100" dirty="0"/>
              <a:t> </a:t>
            </a:r>
            <a:r>
              <a:rPr lang="id-ID" sz="1100" dirty="0" err="1"/>
              <a:t>rule-based</a:t>
            </a:r>
            <a:r>
              <a:rPr lang="id-ID" sz="1100" dirty="0"/>
              <a:t>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Investor </a:t>
            </a:r>
            <a:r>
              <a:rPr lang="id-ID" sz="1100" dirty="0" err="1"/>
              <a:t>Dashboard</a:t>
            </a:r>
            <a:r>
              <a:rPr lang="id-ID" sz="1100" dirty="0"/>
              <a:t> (peta </a:t>
            </a:r>
            <a:r>
              <a:rPr lang="id-ID" sz="1100" dirty="0" err="1"/>
              <a:t>Leaflet</a:t>
            </a:r>
            <a:r>
              <a:rPr lang="id-ID" sz="1100" dirty="0"/>
              <a:t> + daftar + filter), UMKM detail, </a:t>
            </a:r>
            <a:r>
              <a:rPr lang="id-ID" sz="1100" dirty="0" err="1"/>
              <a:t>watchlist</a:t>
            </a:r>
            <a:r>
              <a:rPr lang="id-ID" sz="11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Generator proposal pendanaan PDF satu klik.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 err="1"/>
              <a:t>Auth</a:t>
            </a:r>
            <a:r>
              <a:rPr lang="id-ID" sz="1100" dirty="0"/>
              <a:t> + RLS + 2 akun demo, data UMKM F&amp;B Yogyakarta ter-</a:t>
            </a:r>
            <a:r>
              <a:rPr lang="id-ID" sz="1100" dirty="0" err="1"/>
              <a:t>seed</a:t>
            </a:r>
            <a:r>
              <a:rPr lang="id-ID" sz="1100" dirty="0"/>
              <a:t>.</a:t>
            </a:r>
          </a:p>
          <a:p>
            <a:endParaRPr lang="en-US" sz="1100" dirty="0"/>
          </a:p>
          <a:p>
            <a:r>
              <a:rPr lang="id-ID" sz="1100" dirty="0"/>
              <a:t>Fitur BELUM masuk MVP (</a:t>
            </a:r>
            <a:r>
              <a:rPr lang="id-ID" sz="1100" dirty="0" err="1"/>
              <a:t>roadmap</a:t>
            </a:r>
            <a:r>
              <a:rPr lang="id-ID" sz="1100" dirty="0"/>
              <a:t>): OCR nota (</a:t>
            </a:r>
            <a:r>
              <a:rPr lang="id-ID" sz="1100" dirty="0" err="1"/>
              <a:t>struk</a:t>
            </a:r>
            <a:r>
              <a:rPr lang="id-ID" sz="1100" dirty="0"/>
              <a:t> → auto-kategorisasi), integrasi API </a:t>
            </a:r>
            <a:r>
              <a:rPr lang="id-ID" sz="1100" dirty="0" err="1"/>
              <a:t>GoFood</a:t>
            </a:r>
            <a:r>
              <a:rPr lang="id-ID" sz="1100" dirty="0"/>
              <a:t>/</a:t>
            </a:r>
            <a:r>
              <a:rPr lang="id-ID" sz="1100" dirty="0" err="1"/>
              <a:t>GrabFood</a:t>
            </a:r>
            <a:r>
              <a:rPr lang="id-ID" sz="1100" dirty="0"/>
              <a:t>, </a:t>
            </a:r>
            <a:r>
              <a:rPr lang="id-ID" sz="1100" dirty="0" err="1"/>
              <a:t>forecasting</a:t>
            </a:r>
            <a:r>
              <a:rPr lang="id-ID" sz="1100" dirty="0"/>
              <a:t> </a:t>
            </a:r>
            <a:r>
              <a:rPr lang="id-ID" sz="1100" dirty="0" err="1"/>
              <a:t>hybrid</a:t>
            </a:r>
            <a:r>
              <a:rPr lang="id-ID" sz="1100" dirty="0"/>
              <a:t> penuh, </a:t>
            </a:r>
            <a:r>
              <a:rPr lang="id-ID" sz="1100" dirty="0" err="1"/>
              <a:t>marketplace</a:t>
            </a:r>
            <a:r>
              <a:rPr lang="id-ID" sz="1100" dirty="0"/>
              <a:t> investasi &amp; alur </a:t>
            </a:r>
            <a:r>
              <a:rPr lang="id-ID" sz="1100" dirty="0" err="1"/>
              <a:t>deal</a:t>
            </a:r>
            <a:r>
              <a:rPr lang="id-ID" sz="1100" dirty="0"/>
              <a:t> </a:t>
            </a:r>
            <a:r>
              <a:rPr lang="id-ID" sz="1100" dirty="0" err="1"/>
              <a:t>end-to-end</a:t>
            </a:r>
            <a:r>
              <a:rPr lang="id-ID" sz="1100" dirty="0"/>
              <a:t>, notifikasi real-</a:t>
            </a:r>
            <a:r>
              <a:rPr lang="id-ID" sz="1100" dirty="0" err="1"/>
              <a:t>time</a:t>
            </a:r>
            <a:r>
              <a:rPr lang="id-ID" sz="1100" dirty="0"/>
              <a:t>, </a:t>
            </a:r>
            <a:r>
              <a:rPr lang="id-ID" sz="1100" dirty="0" err="1"/>
              <a:t>mobile</a:t>
            </a:r>
            <a:r>
              <a:rPr lang="id-ID" sz="1100" dirty="0"/>
              <a:t> </a:t>
            </a:r>
            <a:r>
              <a:rPr lang="id-ID" sz="1100" dirty="0" err="1"/>
              <a:t>app</a:t>
            </a:r>
            <a:r>
              <a:rPr lang="id-ID" sz="1100" dirty="0"/>
              <a:t> </a:t>
            </a:r>
            <a:r>
              <a:rPr lang="id-ID" sz="1100" dirty="0" err="1"/>
              <a:t>native</a:t>
            </a:r>
            <a:r>
              <a:rPr lang="id-ID" sz="1100" dirty="0"/>
              <a:t>.</a:t>
            </a:r>
          </a:p>
          <a:p>
            <a:endParaRPr lang="en-US" sz="1100" dirty="0"/>
          </a:p>
          <a:p>
            <a:r>
              <a:rPr lang="id-ID" sz="1100" dirty="0"/>
              <a:t>Kebutuhan tim: 4 anggota saat ini (AI/ML, </a:t>
            </a:r>
            <a:r>
              <a:rPr lang="id-ID" sz="1100" dirty="0" err="1"/>
              <a:t>full-stack</a:t>
            </a:r>
            <a:r>
              <a:rPr lang="id-ID" sz="1100" dirty="0"/>
              <a:t>, </a:t>
            </a:r>
            <a:r>
              <a:rPr lang="id-ID" sz="1100" dirty="0" err="1"/>
              <a:t>automation</a:t>
            </a:r>
            <a:r>
              <a:rPr lang="id-ID" sz="1100" dirty="0"/>
              <a:t>, </a:t>
            </a:r>
            <a:r>
              <a:rPr lang="id-ID" sz="1100" dirty="0" err="1"/>
              <a:t>business</a:t>
            </a:r>
            <a:r>
              <a:rPr lang="id-ID" sz="1100" dirty="0"/>
              <a:t>); penambahan 1 data </a:t>
            </a:r>
            <a:r>
              <a:rPr lang="id-ID" sz="1100" dirty="0" err="1"/>
              <a:t>engineer</a:t>
            </a:r>
            <a:r>
              <a:rPr lang="id-ID" sz="1100" dirty="0"/>
              <a:t> &amp; 1 </a:t>
            </a:r>
            <a:r>
              <a:rPr lang="id-ID" sz="1100" dirty="0" err="1"/>
              <a:t>customer</a:t>
            </a:r>
            <a:r>
              <a:rPr lang="id-ID" sz="1100" dirty="0"/>
              <a:t> </a:t>
            </a:r>
            <a:r>
              <a:rPr lang="id-ID" sz="1100" dirty="0" err="1"/>
              <a:t>success</a:t>
            </a:r>
            <a:r>
              <a:rPr lang="id-ID" sz="1100" dirty="0"/>
              <a:t> saat pilot.</a:t>
            </a:r>
          </a:p>
          <a:p>
            <a:r>
              <a:rPr lang="id-ID" sz="1100" dirty="0"/>
              <a:t>Kebutuhan teknologi: kredit AI API, </a:t>
            </a:r>
            <a:r>
              <a:rPr lang="id-ID" sz="1100" dirty="0" err="1"/>
              <a:t>hosting</a:t>
            </a:r>
            <a:r>
              <a:rPr lang="id-ID" sz="1100" dirty="0"/>
              <a:t> </a:t>
            </a:r>
            <a:r>
              <a:rPr lang="id-ID" sz="1100" dirty="0" err="1"/>
              <a:t>Vercel</a:t>
            </a:r>
            <a:r>
              <a:rPr lang="id-ID" sz="1100" dirty="0"/>
              <a:t>/</a:t>
            </a:r>
            <a:r>
              <a:rPr lang="id-ID" sz="1100" dirty="0" err="1"/>
              <a:t>Supabase</a:t>
            </a:r>
            <a:r>
              <a:rPr lang="id-ID" sz="1100" dirty="0"/>
              <a:t> </a:t>
            </a:r>
            <a:r>
              <a:rPr lang="id-ID" sz="1100" dirty="0" err="1"/>
              <a:t>tier</a:t>
            </a:r>
            <a:r>
              <a:rPr lang="id-ID" sz="1100" dirty="0"/>
              <a:t> produksi, domain &amp; sertifikat.</a:t>
            </a:r>
          </a:p>
          <a:p>
            <a:endParaRPr lang="en-US" sz="1100" dirty="0"/>
          </a:p>
          <a:p>
            <a:r>
              <a:rPr lang="id-ID" sz="1100" dirty="0"/>
              <a:t>Tahapan 6–12 bulan: (1) 0–3 </a:t>
            </a:r>
            <a:r>
              <a:rPr lang="id-ID" sz="1100" dirty="0" err="1"/>
              <a:t>bln</a:t>
            </a:r>
            <a:r>
              <a:rPr lang="id-ID" sz="1100" dirty="0"/>
              <a:t> — pilot 20–30 UMKM Yogyakarta, validasi </a:t>
            </a:r>
            <a:r>
              <a:rPr lang="id-ID" sz="1100" dirty="0" err="1"/>
              <a:t>scoring</a:t>
            </a:r>
            <a:r>
              <a:rPr lang="id-ID" sz="1100" dirty="0"/>
              <a:t> dengan data nyata, tambah OCR nota; (2) 3–6 </a:t>
            </a:r>
            <a:r>
              <a:rPr lang="id-ID" sz="1100" dirty="0" err="1"/>
              <a:t>bln</a:t>
            </a:r>
            <a:r>
              <a:rPr lang="id-ID" sz="1100" dirty="0"/>
              <a:t> — </a:t>
            </a:r>
            <a:r>
              <a:rPr lang="id-ID" sz="1100" dirty="0" err="1"/>
              <a:t>onboarding</a:t>
            </a:r>
            <a:r>
              <a:rPr lang="id-ID" sz="1100" dirty="0"/>
              <a:t> mitra pembiayaan, perbaikan model dari </a:t>
            </a:r>
            <a:r>
              <a:rPr lang="id-ID" sz="1100" dirty="0" err="1"/>
              <a:t>feedback</a:t>
            </a:r>
            <a:r>
              <a:rPr lang="id-ID" sz="1100" dirty="0"/>
              <a:t>; (3) 6–12 </a:t>
            </a:r>
            <a:r>
              <a:rPr lang="id-ID" sz="1100" dirty="0" err="1"/>
              <a:t>bln</a:t>
            </a:r>
            <a:r>
              <a:rPr lang="id-ID" sz="1100" dirty="0"/>
              <a:t> — integrasi </a:t>
            </a:r>
            <a:r>
              <a:rPr lang="id-ID" sz="1100" dirty="0" err="1"/>
              <a:t>marketplace</a:t>
            </a:r>
            <a:r>
              <a:rPr lang="id-ID" sz="1100" dirty="0"/>
              <a:t> &amp; B2B API, persiapan skala </a:t>
            </a:r>
            <a:r>
              <a:rPr lang="id-ID" sz="1100" dirty="0" err="1"/>
              <a:t>multi</a:t>
            </a:r>
            <a:r>
              <a:rPr lang="id-ID" sz="1100" dirty="0"/>
              <a:t>-kota.</a:t>
            </a:r>
          </a:p>
          <a:p>
            <a:endParaRPr lang="en-US" sz="1100" dirty="0"/>
          </a:p>
          <a:p>
            <a:r>
              <a:rPr lang="id-ID" sz="1100" dirty="0"/>
              <a:t>Risiko teknis utama &amp; </a:t>
            </a:r>
            <a:r>
              <a:rPr lang="id-ID" sz="1100" dirty="0" err="1"/>
              <a:t>mitigasi</a:t>
            </a:r>
            <a:r>
              <a:rPr lang="id-ID" sz="1100" dirty="0"/>
              <a:t>: kualitas/kelengkapan data UMKM (</a:t>
            </a:r>
            <a:r>
              <a:rPr lang="id-ID" sz="1100" dirty="0" err="1"/>
              <a:t>mitigasi</a:t>
            </a:r>
            <a:r>
              <a:rPr lang="id-ID" sz="1100" dirty="0"/>
              <a:t> </a:t>
            </a:r>
            <a:r>
              <a:rPr lang="id-ID" sz="1100" dirty="0" err="1"/>
              <a:t>guardrail</a:t>
            </a:r>
            <a:r>
              <a:rPr lang="id-ID" sz="1100" dirty="0"/>
              <a:t> ≥60%, impor mudah, insentif kelengkapan); akurasi skor lintas tipe usaha (kalibrasi pada pilot); biaya AI (</a:t>
            </a:r>
            <a:r>
              <a:rPr lang="id-ID" sz="1100" dirty="0" err="1"/>
              <a:t>fallback</a:t>
            </a:r>
            <a:r>
              <a:rPr lang="id-ID" sz="1100" dirty="0"/>
              <a:t> </a:t>
            </a:r>
            <a:r>
              <a:rPr lang="id-ID" sz="1100" dirty="0" err="1"/>
              <a:t>rule-based</a:t>
            </a:r>
            <a:r>
              <a:rPr lang="id-ID" sz="1100" dirty="0"/>
              <a:t> &amp; </a:t>
            </a:r>
            <a:r>
              <a:rPr lang="id-ID" sz="1100" dirty="0" err="1"/>
              <a:t>caching</a:t>
            </a:r>
            <a:r>
              <a:rPr lang="id-ID" sz="1100" dirty="0"/>
              <a:t>); keamanan data (RLS, enkripsi, audit).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746425" y="1993900"/>
            <a:ext cx="6033638" cy="117813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MARKET VALIDATION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6425" y="1164590"/>
            <a:ext cx="3739853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500" b="1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Problem–Market Fit  (maks 120 kata)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20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A20E0B2-C651-A593-7F03-B268400B1CF4}"/>
              </a:ext>
            </a:extLst>
          </p:cNvPr>
          <p:cNvSpPr/>
          <p:nvPr/>
        </p:nvSpPr>
        <p:spPr>
          <a:xfrm>
            <a:off x="746425" y="1917700"/>
            <a:ext cx="6033638" cy="1600200"/>
          </a:xfrm>
          <a:custGeom>
            <a:avLst/>
            <a:gdLst/>
            <a:ahLst/>
            <a:cxnLst/>
            <a:rect l="l" t="t" r="r" b="b"/>
            <a:pathLst>
              <a:path w="1689312" h="1210280">
                <a:moveTo>
                  <a:pt x="0" y="0"/>
                </a:moveTo>
                <a:lnTo>
                  <a:pt x="1689312" y="0"/>
                </a:lnTo>
                <a:lnTo>
                  <a:pt x="1689312" y="1210280"/>
                </a:lnTo>
                <a:lnTo>
                  <a:pt x="0" y="12102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/>
          <a:lstStyle/>
          <a:p>
            <a:pPr algn="just"/>
            <a:r>
              <a:rPr lang="id-ID" sz="1100" dirty="0"/>
              <a:t>UMKM F&amp;B adalah </a:t>
            </a:r>
            <a:r>
              <a:rPr lang="id-ID" sz="1100" dirty="0" err="1"/>
              <a:t>subsektor</a:t>
            </a:r>
            <a:r>
              <a:rPr lang="id-ID" sz="1100" dirty="0"/>
              <a:t> No.1 ekonomi kreatif (±4,85 juta usaha penyediaan makan-minum, BPS 2023) dengan arus kas harian jelas — ideal untuk </a:t>
            </a:r>
            <a:r>
              <a:rPr lang="id-ID" sz="1100" dirty="0" err="1"/>
              <a:t>scoring</a:t>
            </a:r>
            <a:r>
              <a:rPr lang="id-ID" sz="1100" dirty="0"/>
              <a:t>. Masalah pendanaan nyata &amp; mendesak: bila tak diselesaikan, UMKM kehilangan peluang ekspansi, terjebak modal mahal/informal, dan investor menanggung biaya </a:t>
            </a:r>
            <a:r>
              <a:rPr lang="id-ID" sz="1100" dirty="0" err="1"/>
              <a:t>due</a:t>
            </a:r>
            <a:r>
              <a:rPr lang="id-ID" sz="1100" dirty="0"/>
              <a:t> </a:t>
            </a:r>
            <a:r>
              <a:rPr lang="id-ID" sz="1100" dirty="0" err="1"/>
              <a:t>diligence</a:t>
            </a:r>
            <a:r>
              <a:rPr lang="id-ID" sz="1100" dirty="0"/>
              <a:t> tinggi (2–4 minggu, jutaan rupiah per UMKM) serta risiko data tak </a:t>
            </a:r>
            <a:r>
              <a:rPr lang="id-ID" sz="1100" dirty="0" err="1"/>
              <a:t>terverifikasi</a:t>
            </a:r>
            <a:r>
              <a:rPr lang="id-ID" sz="1100" dirty="0"/>
              <a:t>. Akibatnya modal tidak mengalir ke bisnis yang sebenarnya layak. Kebutuhan akan data </a:t>
            </a:r>
            <a:r>
              <a:rPr lang="id-ID" sz="1100" dirty="0" err="1"/>
              <a:t>tepercaya</a:t>
            </a:r>
            <a:r>
              <a:rPr lang="id-ID" sz="1100" dirty="0"/>
              <a:t> dirasakan kedua sisi setiap hari, menjadikan problem–</a:t>
            </a:r>
            <a:r>
              <a:rPr lang="id-ID" sz="1100" dirty="0" err="1"/>
              <a:t>market</a:t>
            </a:r>
            <a:r>
              <a:rPr lang="id-ID" sz="1100" dirty="0"/>
              <a:t> fit kuat.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746425" y="1993900"/>
            <a:ext cx="6033638" cy="117813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MARKET VALIDATION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6425" y="1164590"/>
            <a:ext cx="3739853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500" b="1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Evidence of Demand  (maks 220 kata)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21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A20E0B2-C651-A593-7F03-B268400B1CF4}"/>
              </a:ext>
            </a:extLst>
          </p:cNvPr>
          <p:cNvSpPr/>
          <p:nvPr/>
        </p:nvSpPr>
        <p:spPr>
          <a:xfrm>
            <a:off x="746425" y="1917700"/>
            <a:ext cx="6033638" cy="3048000"/>
          </a:xfrm>
          <a:custGeom>
            <a:avLst/>
            <a:gdLst/>
            <a:ahLst/>
            <a:cxnLst/>
            <a:rect l="l" t="t" r="r" b="b"/>
            <a:pathLst>
              <a:path w="1689312" h="1210280">
                <a:moveTo>
                  <a:pt x="0" y="0"/>
                </a:moveTo>
                <a:lnTo>
                  <a:pt x="1689312" y="0"/>
                </a:lnTo>
                <a:lnTo>
                  <a:pt x="1689312" y="1210280"/>
                </a:lnTo>
                <a:lnTo>
                  <a:pt x="0" y="12102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/>
          <a:lstStyle/>
          <a:p>
            <a:r>
              <a:rPr lang="id-ID" sz="1100" dirty="0"/>
              <a:t>Bukti kebutuhan dari riset &amp; data: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Riset lapangan tim: 15 UMKM F&amp;B Yogyakarta, 100% tidak mampu menyajikan data </a:t>
            </a:r>
            <a:r>
              <a:rPr lang="id-ID" sz="1100" dirty="0" err="1"/>
              <a:t>terverifikasi</a:t>
            </a:r>
            <a:r>
              <a:rPr lang="id-ID" sz="1100" dirty="0"/>
              <a:t> 12 bulan terakhir dan menyatakan butuh cara membuktikan kesehatan bisnis ke pemberi modal.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77% UMKM mencatat manual/semi-manual (OCBC &amp; </a:t>
            </a:r>
            <a:r>
              <a:rPr lang="id-ID" sz="1100" dirty="0" err="1"/>
              <a:t>NielsenIQ</a:t>
            </a:r>
            <a:r>
              <a:rPr lang="id-ID" sz="1100" dirty="0"/>
              <a:t> 2024); hanya ~19% punya laporan keuangan diterima lembaga formal (OJK).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69,5% UMKM belum mengakses kredit (Kementerian UMKM 2025); porsi kredit UMKM ~19,8% vs target 30% (OJK, Des 2024) — sisi UMKM jelas </a:t>
            </a:r>
            <a:r>
              <a:rPr lang="id-ID" sz="1100" dirty="0" err="1"/>
              <a:t>under-served</a:t>
            </a:r>
            <a:r>
              <a:rPr lang="id-ID" sz="11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Sisi pembiayaan haus data kelayakan: penyaluran P2P produktif baru 30,91% vs target 40–50%, menandakan </a:t>
            </a:r>
            <a:r>
              <a:rPr lang="id-ID" sz="1100" dirty="0" err="1"/>
              <a:t>lender</a:t>
            </a:r>
            <a:r>
              <a:rPr lang="id-ID" sz="1100" dirty="0"/>
              <a:t> butuh sinyal risiko yang lebih baik.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Gap pembiayaan ≈Rp2.400 triliun (selisih kebutuhan vs pasokan, </a:t>
            </a:r>
            <a:r>
              <a:rPr lang="id-ID" sz="1100" dirty="0" err="1"/>
              <a:t>Kemenko</a:t>
            </a:r>
            <a:r>
              <a:rPr lang="id-ID" sz="1100" dirty="0"/>
              <a:t> Perekonomian; USD 234 miliar, IFC) menunjukkan ukuran masalah.</a:t>
            </a:r>
          </a:p>
          <a:p>
            <a:endParaRPr lang="en-US" sz="1100" dirty="0"/>
          </a:p>
          <a:p>
            <a:r>
              <a:rPr lang="id-ID" sz="1100" dirty="0"/>
              <a:t>Kesimpulan: </a:t>
            </a:r>
            <a:r>
              <a:rPr lang="id-ID" sz="1100" dirty="0" err="1"/>
              <a:t>demand</a:t>
            </a:r>
            <a:r>
              <a:rPr lang="id-ID" sz="1100" dirty="0"/>
              <a:t> terbukti dua sisi — UMKM butuh membuktikan kelayakan, investor butuh data </a:t>
            </a:r>
            <a:r>
              <a:rPr lang="id-ID" sz="1100" dirty="0" err="1"/>
              <a:t>tepercaya</a:t>
            </a:r>
            <a:r>
              <a:rPr lang="id-ID" sz="1100" dirty="0"/>
              <a:t> untuk menilai. Validasi lanjutan dilakukan pada pilot Yogyakarta (survei sebelum–sesudah &amp; konversi </a:t>
            </a:r>
            <a:r>
              <a:rPr lang="id-ID" sz="1100" dirty="0" err="1"/>
              <a:t>Free→Pro</a:t>
            </a:r>
            <a:r>
              <a:rPr lang="id-ID" sz="1100" dirty="0"/>
              <a:t>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746425" y="1993900"/>
            <a:ext cx="6033638" cy="117813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MARKET VALIDATION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6425" y="1164590"/>
            <a:ext cx="3739853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500" b="1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Target Market  (maks 150 kata)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22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A20E0B2-C651-A593-7F03-B268400B1CF4}"/>
              </a:ext>
            </a:extLst>
          </p:cNvPr>
          <p:cNvSpPr/>
          <p:nvPr/>
        </p:nvSpPr>
        <p:spPr>
          <a:xfrm>
            <a:off x="746425" y="1917700"/>
            <a:ext cx="6033638" cy="2362200"/>
          </a:xfrm>
          <a:custGeom>
            <a:avLst/>
            <a:gdLst/>
            <a:ahLst/>
            <a:cxnLst/>
            <a:rect l="l" t="t" r="r" b="b"/>
            <a:pathLst>
              <a:path w="1689312" h="1210280">
                <a:moveTo>
                  <a:pt x="0" y="0"/>
                </a:moveTo>
                <a:lnTo>
                  <a:pt x="1689312" y="0"/>
                </a:lnTo>
                <a:lnTo>
                  <a:pt x="1689312" y="1210280"/>
                </a:lnTo>
                <a:lnTo>
                  <a:pt x="0" y="12102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/>
          <a:lstStyle/>
          <a:p>
            <a:pPr algn="just"/>
            <a:r>
              <a:rPr lang="id-ID" sz="1100" dirty="0" err="1"/>
              <a:t>Primary</a:t>
            </a:r>
            <a:r>
              <a:rPr lang="id-ID" sz="1100" dirty="0"/>
              <a:t>: UMKM F&amp;B skala kecil–menengah dengan omzet Rp10–200 juta/bulan dan 20–100 SKU — warung makan, kafe, </a:t>
            </a:r>
            <a:r>
              <a:rPr lang="id-ID" sz="1100" dirty="0" err="1"/>
              <a:t>bakery</a:t>
            </a:r>
            <a:r>
              <a:rPr lang="id-ID" sz="1100" dirty="0"/>
              <a:t>, </a:t>
            </a:r>
            <a:r>
              <a:rPr lang="id-ID" sz="1100" dirty="0" err="1"/>
              <a:t>catering</a:t>
            </a:r>
            <a:r>
              <a:rPr lang="id-ID" sz="1100" dirty="0"/>
              <a:t> — yang sudah memakai minimal satu alat digital (POS/QRIS/</a:t>
            </a:r>
            <a:r>
              <a:rPr lang="id-ID" sz="1100" dirty="0" err="1"/>
              <a:t>spreadsheet</a:t>
            </a:r>
            <a:r>
              <a:rPr lang="id-ID" sz="1100" dirty="0"/>
              <a:t>). Lokasi awal: Yogyakarta (pilot), lalu Semarang &amp; Surabaya. Karakteristik: pemilik aktif, melek QRIS, </a:t>
            </a:r>
            <a:r>
              <a:rPr lang="id-ID" sz="1100" dirty="0" err="1"/>
              <a:t>literasi</a:t>
            </a:r>
            <a:r>
              <a:rPr lang="id-ID" sz="1100" dirty="0"/>
              <a:t> akuntansi terbatas, butuh cara mudah membuktikan kesehatan bisnis. Potensi ±4,85 juta usaha penyediaan makan-minum nasional (BPS 2023).</a:t>
            </a:r>
            <a:endParaRPr lang="en-US" sz="1100" dirty="0"/>
          </a:p>
          <a:p>
            <a:pPr algn="just"/>
            <a:endParaRPr lang="id-ID" sz="1100" dirty="0"/>
          </a:p>
          <a:p>
            <a:pPr algn="just"/>
            <a:r>
              <a:rPr lang="id-ID" sz="1100" dirty="0" err="1"/>
              <a:t>Secondary</a:t>
            </a:r>
            <a:r>
              <a:rPr lang="id-ID" sz="1100" dirty="0"/>
              <a:t>: investor ritel, koperasi simpan pinjam, BPR, dan </a:t>
            </a:r>
            <a:r>
              <a:rPr lang="id-ID" sz="1100" dirty="0" err="1"/>
              <a:t>fintech</a:t>
            </a:r>
            <a:r>
              <a:rPr lang="id-ID" sz="1100" dirty="0"/>
              <a:t> P2P </a:t>
            </a:r>
            <a:r>
              <a:rPr lang="id-ID" sz="1100" dirty="0" err="1"/>
              <a:t>lending</a:t>
            </a:r>
            <a:r>
              <a:rPr lang="id-ID" sz="1100" dirty="0"/>
              <a:t> yang mencari UMKM tersaring untuk pendanaan.</a:t>
            </a:r>
            <a:endParaRPr lang="en-US" sz="1100" dirty="0"/>
          </a:p>
          <a:p>
            <a:pPr algn="just"/>
            <a:endParaRPr lang="id-ID" sz="1100" dirty="0"/>
          </a:p>
          <a:p>
            <a:pPr algn="just"/>
            <a:r>
              <a:rPr lang="id-ID" sz="1100" dirty="0" err="1"/>
              <a:t>Funnel</a:t>
            </a:r>
            <a:r>
              <a:rPr lang="id-ID" sz="1100" dirty="0"/>
              <a:t>: TAM 4,85 juta usaha F&amp;B → SAM UMKM F&amp;B sudah digital Rp10–200jt/</a:t>
            </a:r>
            <a:r>
              <a:rPr lang="id-ID" sz="1100" dirty="0" err="1"/>
              <a:t>bln</a:t>
            </a:r>
            <a:r>
              <a:rPr lang="id-ID" sz="1100" dirty="0"/>
              <a:t> → SOM pilot 20–30, lalu 200–500 UMKM.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746425" y="1993900"/>
            <a:ext cx="6033638" cy="117813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MARKET VALIDATION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6425" y="1164590"/>
            <a:ext cx="3739853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500" b="1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Adoption Readiness  (maks 180 kata)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23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A20E0B2-C651-A593-7F03-B268400B1CF4}"/>
              </a:ext>
            </a:extLst>
          </p:cNvPr>
          <p:cNvSpPr/>
          <p:nvPr/>
        </p:nvSpPr>
        <p:spPr>
          <a:xfrm>
            <a:off x="746425" y="1689100"/>
            <a:ext cx="6033638" cy="2743200"/>
          </a:xfrm>
          <a:custGeom>
            <a:avLst/>
            <a:gdLst/>
            <a:ahLst/>
            <a:cxnLst/>
            <a:rect l="l" t="t" r="r" b="b"/>
            <a:pathLst>
              <a:path w="1689312" h="1210280">
                <a:moveTo>
                  <a:pt x="0" y="0"/>
                </a:moveTo>
                <a:lnTo>
                  <a:pt x="1689312" y="0"/>
                </a:lnTo>
                <a:lnTo>
                  <a:pt x="1689312" y="1210280"/>
                </a:lnTo>
                <a:lnTo>
                  <a:pt x="0" y="12102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/>
          <a:lstStyle/>
          <a:p>
            <a:pPr algn="just"/>
            <a:r>
              <a:rPr lang="id-ID" sz="1100" dirty="0"/>
              <a:t>Target pengguna relatif siap: 25,5 juta UMKM sudah </a:t>
            </a:r>
            <a:r>
              <a:rPr lang="id-ID" sz="1100" dirty="0" err="1"/>
              <a:t>go</a:t>
            </a:r>
            <a:r>
              <a:rPr lang="id-ID" sz="1100" dirty="0"/>
              <a:t>-digital dan 32+ juta </a:t>
            </a:r>
            <a:r>
              <a:rPr lang="id-ID" sz="1100" dirty="0" err="1"/>
              <a:t>merchant</a:t>
            </a:r>
            <a:r>
              <a:rPr lang="id-ID" sz="1100" dirty="0"/>
              <a:t> memakai QRIS, sehingga perilaku mencatat transaksi digital sudah terbentuk — </a:t>
            </a:r>
            <a:r>
              <a:rPr lang="id-ID" sz="1100" dirty="0" err="1"/>
              <a:t>RetailMind</a:t>
            </a:r>
            <a:r>
              <a:rPr lang="id-ID" sz="1100" dirty="0"/>
              <a:t> AI menambahkan lapisan analitik di atas kebiasaan yang ada.</a:t>
            </a:r>
            <a:endParaRPr lang="en-US" sz="1100" dirty="0"/>
          </a:p>
          <a:p>
            <a:pPr algn="just"/>
            <a:endParaRPr lang="id-ID" sz="1100" dirty="0"/>
          </a:p>
          <a:p>
            <a:pPr algn="just"/>
            <a:r>
              <a:rPr lang="id-ID" sz="1100" dirty="0"/>
              <a:t>Faktor pendukung: gratis untuk masuk; antarmuka </a:t>
            </a:r>
            <a:r>
              <a:rPr lang="id-ID" sz="1100" dirty="0" err="1"/>
              <a:t>mobile-first</a:t>
            </a:r>
            <a:r>
              <a:rPr lang="id-ID" sz="1100" dirty="0"/>
              <a:t> sederhana; AI </a:t>
            </a:r>
            <a:r>
              <a:rPr lang="id-ID" sz="1100" dirty="0" err="1"/>
              <a:t>Coach</a:t>
            </a:r>
            <a:r>
              <a:rPr lang="id-ID" sz="1100" dirty="0"/>
              <a:t> berbahasa Indonesia menurunkan hambatan </a:t>
            </a:r>
            <a:r>
              <a:rPr lang="id-ID" sz="1100" dirty="0" err="1"/>
              <a:t>literasi</a:t>
            </a:r>
            <a:r>
              <a:rPr lang="id-ID" sz="1100" dirty="0"/>
              <a:t>; impor CSV/Google </a:t>
            </a:r>
            <a:r>
              <a:rPr lang="id-ID" sz="1100" dirty="0" err="1"/>
              <a:t>Sheets</a:t>
            </a:r>
            <a:r>
              <a:rPr lang="id-ID" sz="1100" dirty="0"/>
              <a:t> memudahkan migrasi.</a:t>
            </a:r>
          </a:p>
          <a:p>
            <a:pPr algn="just"/>
            <a:r>
              <a:rPr lang="id-ID" sz="1100" dirty="0"/>
              <a:t>Hambatan: </a:t>
            </a:r>
            <a:r>
              <a:rPr lang="id-ID" sz="1100" dirty="0" err="1"/>
              <a:t>literasi</a:t>
            </a:r>
            <a:r>
              <a:rPr lang="id-ID" sz="1100" dirty="0"/>
              <a:t> akuntansi/keuangan terbatas, kebiasaan mencatat belum konsisten, sebagian masih campur catatan tangan, dan kekhawatiran privasi data.</a:t>
            </a:r>
            <a:endParaRPr lang="en-US" sz="1100" dirty="0"/>
          </a:p>
          <a:p>
            <a:pPr algn="just"/>
            <a:endParaRPr lang="id-ID" sz="1100" dirty="0"/>
          </a:p>
          <a:p>
            <a:pPr algn="just"/>
            <a:r>
              <a:rPr lang="id-ID" sz="1100" dirty="0"/>
              <a:t>Perubahan perilaku yang dibutuhkan: mencatat transaksi secara rutin &amp; lengkap.</a:t>
            </a:r>
          </a:p>
          <a:p>
            <a:pPr algn="just"/>
            <a:r>
              <a:rPr lang="id-ID" sz="1100" dirty="0"/>
              <a:t>Strategi mengurangi hambatan: </a:t>
            </a:r>
            <a:r>
              <a:rPr lang="id-ID" sz="1100" dirty="0" err="1"/>
              <a:t>onboarding</a:t>
            </a:r>
            <a:r>
              <a:rPr lang="id-ID" sz="1100" dirty="0"/>
              <a:t> berbasis komunitas + pendampingan; </a:t>
            </a:r>
            <a:r>
              <a:rPr lang="id-ID" sz="1100" dirty="0" err="1"/>
              <a:t>checklist</a:t>
            </a:r>
            <a:r>
              <a:rPr lang="id-ID" sz="1100" dirty="0"/>
              <a:t> </a:t>
            </a:r>
            <a:r>
              <a:rPr lang="id-ID" sz="1100" dirty="0" err="1"/>
              <a:t>bergamifikasi</a:t>
            </a:r>
            <a:r>
              <a:rPr lang="id-ID" sz="1100" dirty="0"/>
              <a:t> 'menuju siap didanai'; AI </a:t>
            </a:r>
            <a:r>
              <a:rPr lang="id-ID" sz="1100" dirty="0" err="1"/>
              <a:t>Coach</a:t>
            </a:r>
            <a:r>
              <a:rPr lang="id-ID" sz="1100" dirty="0"/>
              <a:t> proaktif yang mengingatkan &amp; menjelaskan manfaat; </a:t>
            </a:r>
            <a:r>
              <a:rPr lang="id-ID" sz="1100" dirty="0" err="1"/>
              <a:t>template</a:t>
            </a:r>
            <a:r>
              <a:rPr lang="id-ID" sz="1100" dirty="0"/>
              <a:t> data siap pakai; transparansi privasi (investor tak melihat data mentah).</a:t>
            </a:r>
          </a:p>
          <a:p>
            <a:pPr algn="just"/>
            <a:r>
              <a:rPr lang="id-ID" sz="1100" dirty="0"/>
              <a:t>Akses perangkat/internet umumnya tersedia (</a:t>
            </a:r>
            <a:r>
              <a:rPr lang="id-ID" sz="1100" dirty="0" err="1"/>
              <a:t>smartphone</a:t>
            </a:r>
            <a:r>
              <a:rPr lang="id-ID" sz="1100" dirty="0"/>
              <a:t> + paket data), sehingga PWA cukup tanpa perangkat khusus.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746425" y="1993900"/>
            <a:ext cx="6033638" cy="117813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BUSINESS MODEL &amp; SCALABILITY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6425" y="1164590"/>
            <a:ext cx="3739853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500" b="1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Value Proposition  (maks 220 kata)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24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A20E0B2-C651-A593-7F03-B268400B1CF4}"/>
              </a:ext>
            </a:extLst>
          </p:cNvPr>
          <p:cNvSpPr/>
          <p:nvPr/>
        </p:nvSpPr>
        <p:spPr>
          <a:xfrm>
            <a:off x="746425" y="1612900"/>
            <a:ext cx="6033638" cy="3352800"/>
          </a:xfrm>
          <a:custGeom>
            <a:avLst/>
            <a:gdLst/>
            <a:ahLst/>
            <a:cxnLst/>
            <a:rect l="l" t="t" r="r" b="b"/>
            <a:pathLst>
              <a:path w="1689312" h="1210280">
                <a:moveTo>
                  <a:pt x="0" y="0"/>
                </a:moveTo>
                <a:lnTo>
                  <a:pt x="1689312" y="0"/>
                </a:lnTo>
                <a:lnTo>
                  <a:pt x="1689312" y="1210280"/>
                </a:lnTo>
                <a:lnTo>
                  <a:pt x="0" y="12102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/>
          <a:lstStyle/>
          <a:p>
            <a:r>
              <a:rPr lang="id-ID" sz="1100" dirty="0"/>
              <a:t>Untuk UMKM F&amp;B:</a:t>
            </a:r>
            <a:endParaRPr lang="en-US" sz="1100" dirty="0"/>
          </a:p>
          <a:p>
            <a:endParaRPr lang="id-ID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Tahu kondisi bisnis secara objektif lewat Business </a:t>
            </a:r>
            <a:r>
              <a:rPr lang="id-ID" sz="1100" dirty="0" err="1"/>
              <a:t>Health</a:t>
            </a:r>
            <a:r>
              <a:rPr lang="id-ID" sz="1100" dirty="0"/>
              <a:t> </a:t>
            </a:r>
            <a:r>
              <a:rPr lang="id-ID" sz="1100" dirty="0" err="1"/>
              <a:t>Score</a:t>
            </a:r>
            <a:r>
              <a:rPr lang="id-ID" sz="1100" dirty="0"/>
              <a:t> 0–100 berbasis data nyata (bukan perasaan/generik).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AI </a:t>
            </a:r>
            <a:r>
              <a:rPr lang="id-ID" sz="1100" dirty="0" err="1"/>
              <a:t>Coach</a:t>
            </a:r>
            <a:r>
              <a:rPr lang="id-ID" sz="1100" dirty="0"/>
              <a:t> Rinda memberi langkah konkret menaikkan performa dalam Bahasa Indonesia.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Laporan/proposal pendanaan siap investor dalam 1 klik — tak perlu menyusun laporan manual.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Visibilitas ke investor ritel &amp; lembaga pembiayaan; peluang akses modal lebih besar.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 err="1"/>
              <a:t>Pain</a:t>
            </a:r>
            <a:r>
              <a:rPr lang="id-ID" sz="1100" dirty="0"/>
              <a:t> </a:t>
            </a:r>
            <a:r>
              <a:rPr lang="id-ID" sz="1100" dirty="0" err="1"/>
              <a:t>point</a:t>
            </a:r>
            <a:r>
              <a:rPr lang="id-ID" sz="1100" dirty="0"/>
              <a:t> terjawab: lebih mudah (catat sekali, skor otomatis), lebih cepat (laporan instan), lebih kredibel (data </a:t>
            </a:r>
            <a:r>
              <a:rPr lang="id-ID" sz="1100" dirty="0" err="1"/>
              <a:t>terverifikasi</a:t>
            </a:r>
            <a:r>
              <a:rPr lang="id-ID" sz="1100" dirty="0"/>
              <a:t>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Untuk investor &amp; lembaga pembiayaan: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 err="1"/>
              <a:t>Screening</a:t>
            </a:r>
            <a:r>
              <a:rPr lang="id-ID" sz="1100" dirty="0"/>
              <a:t> UMKM dalam menit (vs 2–4 minggu manual) lewat skor &amp; </a:t>
            </a:r>
            <a:r>
              <a:rPr lang="id-ID" sz="1100" dirty="0" err="1"/>
              <a:t>dashboard</a:t>
            </a:r>
            <a:r>
              <a:rPr lang="id-ID" sz="11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Investment </a:t>
            </a:r>
            <a:r>
              <a:rPr lang="id-ID" sz="1100" dirty="0" err="1"/>
              <a:t>Readiness</a:t>
            </a:r>
            <a:r>
              <a:rPr lang="id-ID" sz="1100" dirty="0"/>
              <a:t> </a:t>
            </a:r>
            <a:r>
              <a:rPr lang="id-ID" sz="1100" dirty="0" err="1"/>
              <a:t>Score</a:t>
            </a:r>
            <a:r>
              <a:rPr lang="id-ID" sz="1100" dirty="0"/>
              <a:t> (Low/Medium/</a:t>
            </a:r>
            <a:r>
              <a:rPr lang="id-ID" sz="1100" dirty="0" err="1"/>
              <a:t>High</a:t>
            </a:r>
            <a:r>
              <a:rPr lang="id-ID" sz="1100" dirty="0"/>
              <a:t>), tren 90 hari, dan </a:t>
            </a:r>
            <a:r>
              <a:rPr lang="id-ID" sz="1100" dirty="0" err="1"/>
              <a:t>risk</a:t>
            </a:r>
            <a:r>
              <a:rPr lang="id-ID" sz="1100" dirty="0"/>
              <a:t> </a:t>
            </a:r>
            <a:r>
              <a:rPr lang="id-ID" sz="1100" dirty="0" err="1"/>
              <a:t>indicators</a:t>
            </a:r>
            <a:r>
              <a:rPr lang="id-ID" sz="1100" dirty="0"/>
              <a:t> otomatis.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Deal </a:t>
            </a:r>
            <a:r>
              <a:rPr lang="id-ID" sz="1100" dirty="0" err="1"/>
              <a:t>flow</a:t>
            </a:r>
            <a:r>
              <a:rPr lang="id-ID" sz="1100" dirty="0"/>
              <a:t> tersaring &amp; </a:t>
            </a:r>
            <a:r>
              <a:rPr lang="id-ID" sz="1100" dirty="0" err="1"/>
              <a:t>portfolio</a:t>
            </a:r>
            <a:r>
              <a:rPr lang="id-ID" sz="1100" dirty="0"/>
              <a:t> </a:t>
            </a:r>
            <a:r>
              <a:rPr lang="id-ID" sz="1100" dirty="0" err="1"/>
              <a:t>monitoring</a:t>
            </a:r>
            <a:r>
              <a:rPr lang="id-ID" sz="1100" dirty="0"/>
              <a:t> terpusat; biaya analisis kelayakan jauh lebih rendah.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 err="1"/>
              <a:t>Pain</a:t>
            </a:r>
            <a:r>
              <a:rPr lang="id-ID" sz="1100" dirty="0"/>
              <a:t> </a:t>
            </a:r>
            <a:r>
              <a:rPr lang="id-ID" sz="1100" dirty="0" err="1"/>
              <a:t>point</a:t>
            </a:r>
            <a:r>
              <a:rPr lang="id-ID" sz="1100" dirty="0"/>
              <a:t> terjawab: lebih cepat, lebih murah, lebih terukur risikonya, lebih terbanding antar-UMKM.</a:t>
            </a:r>
          </a:p>
          <a:p>
            <a:endParaRPr lang="en-US" sz="1100" dirty="0"/>
          </a:p>
          <a:p>
            <a:r>
              <a:rPr lang="id-ID" sz="1100" dirty="0"/>
              <a:t>Nilai inti yang membedakan: </a:t>
            </a:r>
            <a:r>
              <a:rPr lang="id-ID" sz="1100" dirty="0" err="1"/>
              <a:t>RetailMind</a:t>
            </a:r>
            <a:r>
              <a:rPr lang="id-ID" sz="1100" dirty="0"/>
              <a:t> AI bukan sekadar mencatat, tetapi mengubah transaksi harian menjadi kepercayaan yang bisa dipakai untuk keputusan pendanaan — manfaat yang dirasakan kedua sisi pasar sekaligus.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746425" y="1993900"/>
            <a:ext cx="6033638" cy="117813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BUSINESS MODEL &amp; SCALABILITY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6425" y="1164590"/>
            <a:ext cx="3739853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500" b="1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Model Revenue / Funding  (maks 200 kata)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25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A20E0B2-C651-A593-7F03-B268400B1CF4}"/>
              </a:ext>
            </a:extLst>
          </p:cNvPr>
          <p:cNvSpPr/>
          <p:nvPr/>
        </p:nvSpPr>
        <p:spPr>
          <a:xfrm>
            <a:off x="746425" y="1689100"/>
            <a:ext cx="6033638" cy="3505200"/>
          </a:xfrm>
          <a:custGeom>
            <a:avLst/>
            <a:gdLst/>
            <a:ahLst/>
            <a:cxnLst/>
            <a:rect l="l" t="t" r="r" b="b"/>
            <a:pathLst>
              <a:path w="1689312" h="1210280">
                <a:moveTo>
                  <a:pt x="0" y="0"/>
                </a:moveTo>
                <a:lnTo>
                  <a:pt x="1689312" y="0"/>
                </a:lnTo>
                <a:lnTo>
                  <a:pt x="1689312" y="1210280"/>
                </a:lnTo>
                <a:lnTo>
                  <a:pt x="0" y="12102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/>
          <a:lstStyle/>
          <a:p>
            <a:pPr algn="just"/>
            <a:r>
              <a:rPr lang="id-ID" sz="1100" dirty="0"/>
              <a:t>Model utama: </a:t>
            </a:r>
            <a:r>
              <a:rPr lang="id-ID" sz="1100" dirty="0" err="1"/>
              <a:t>SaaS</a:t>
            </a:r>
            <a:r>
              <a:rPr lang="id-ID" sz="1100" dirty="0"/>
              <a:t> </a:t>
            </a:r>
            <a:r>
              <a:rPr lang="id-ID" sz="1100" dirty="0" err="1"/>
              <a:t>freemium</a:t>
            </a:r>
            <a:r>
              <a:rPr lang="id-ID" sz="1100" dirty="0"/>
              <a:t> dwi-sisi, agar UMKM mudah masuk dan pendapatan tumbuh seiring nilai.</a:t>
            </a:r>
            <a:endParaRPr lang="en-US" sz="1100" dirty="0"/>
          </a:p>
          <a:p>
            <a:pPr algn="just"/>
            <a:endParaRPr lang="id-ID" sz="11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id-ID" sz="1100" dirty="0" err="1"/>
              <a:t>Free</a:t>
            </a:r>
            <a:r>
              <a:rPr lang="id-ID" sz="1100" dirty="0"/>
              <a:t> (UMKM): Rp0 — akuisisi &amp; pengumpulan data (POS + </a:t>
            </a:r>
            <a:r>
              <a:rPr lang="id-ID" sz="1100" dirty="0" err="1"/>
              <a:t>Cashbook</a:t>
            </a:r>
            <a:r>
              <a:rPr lang="id-ID" sz="1100" dirty="0"/>
              <a:t> dasar + skor terbatas).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id-ID" sz="1100" dirty="0"/>
              <a:t>Pro (UMKM): Rp149.000/bulan — </a:t>
            </a:r>
            <a:r>
              <a:rPr lang="id-ID" sz="1100" dirty="0" err="1"/>
              <a:t>insight</a:t>
            </a:r>
            <a:r>
              <a:rPr lang="id-ID" sz="1100" dirty="0"/>
              <a:t> penuh AI </a:t>
            </a:r>
            <a:r>
              <a:rPr lang="id-ID" sz="1100" dirty="0" err="1"/>
              <a:t>Coach</a:t>
            </a:r>
            <a:r>
              <a:rPr lang="id-ID" sz="1100" dirty="0"/>
              <a:t>, </a:t>
            </a:r>
            <a:r>
              <a:rPr lang="id-ID" sz="1100" dirty="0" err="1"/>
              <a:t>scoring</a:t>
            </a:r>
            <a:r>
              <a:rPr lang="id-ID" sz="1100" dirty="0"/>
              <a:t> lengkap, ekspor &amp; proposal PDF. </a:t>
            </a:r>
            <a:r>
              <a:rPr lang="id-ID" sz="1100" dirty="0" err="1"/>
              <a:t>Revenue</a:t>
            </a:r>
            <a:r>
              <a:rPr lang="id-ID" sz="1100" dirty="0"/>
              <a:t> </a:t>
            </a:r>
            <a:r>
              <a:rPr lang="id-ID" sz="1100" dirty="0" err="1"/>
              <a:t>stream</a:t>
            </a:r>
            <a:r>
              <a:rPr lang="id-ID" sz="1100" dirty="0"/>
              <a:t> utama tahap awal.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id-ID" sz="1100" dirty="0"/>
              <a:t>Investor Access: Rp299.000/bulan — akses Investor </a:t>
            </a:r>
            <a:r>
              <a:rPr lang="id-ID" sz="1100" dirty="0" err="1"/>
              <a:t>Dashboard</a:t>
            </a:r>
            <a:r>
              <a:rPr lang="id-ID" sz="1100" dirty="0"/>
              <a:t>, detail UMKM, </a:t>
            </a:r>
            <a:r>
              <a:rPr lang="id-ID" sz="1100" dirty="0" err="1"/>
              <a:t>watchlist</a:t>
            </a:r>
            <a:r>
              <a:rPr lang="id-ID" sz="1100" dirty="0"/>
              <a:t>, filter lanjutan.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id-ID" sz="1100" dirty="0"/>
              <a:t>API </a:t>
            </a:r>
            <a:r>
              <a:rPr lang="id-ID" sz="1100" dirty="0" err="1"/>
              <a:t>License</a:t>
            </a:r>
            <a:r>
              <a:rPr lang="id-ID" sz="1100" dirty="0"/>
              <a:t> (B2B): Rp2–5 juta/bulan — integrasi skor ke sistem BPR/Koperasi/</a:t>
            </a:r>
            <a:r>
              <a:rPr lang="id-ID" sz="1100" dirty="0" err="1"/>
              <a:t>Fintech</a:t>
            </a:r>
            <a:r>
              <a:rPr lang="id-ID" sz="1100" dirty="0"/>
              <a:t>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id-ID" sz="1100" dirty="0" err="1"/>
              <a:t>Matching</a:t>
            </a:r>
            <a:r>
              <a:rPr lang="id-ID" sz="1100" dirty="0"/>
              <a:t> </a:t>
            </a:r>
            <a:r>
              <a:rPr lang="id-ID" sz="1100" dirty="0" err="1"/>
              <a:t>Fee</a:t>
            </a:r>
            <a:r>
              <a:rPr lang="id-ID" sz="1100" dirty="0"/>
              <a:t>: 1–2% per </a:t>
            </a:r>
            <a:r>
              <a:rPr lang="id-ID" sz="1100" dirty="0" err="1"/>
              <a:t>deal</a:t>
            </a:r>
            <a:r>
              <a:rPr lang="id-ID" sz="1100" dirty="0"/>
              <a:t> pendanaan yang </a:t>
            </a:r>
            <a:r>
              <a:rPr lang="id-ID" sz="1100" dirty="0" err="1"/>
              <a:t>terfasilitasi</a:t>
            </a:r>
            <a:r>
              <a:rPr lang="id-ID" sz="1100" dirty="0"/>
              <a:t> — </a:t>
            </a:r>
            <a:r>
              <a:rPr lang="id-ID" sz="1100" dirty="0" err="1"/>
              <a:t>monetisasi</a:t>
            </a:r>
            <a:r>
              <a:rPr lang="id-ID" sz="1100" dirty="0"/>
              <a:t> jangka panjang saat </a:t>
            </a:r>
            <a:r>
              <a:rPr lang="id-ID" sz="1100" dirty="0" err="1"/>
              <a:t>marketplace</a:t>
            </a:r>
            <a:r>
              <a:rPr lang="id-ID" sz="1100" dirty="0"/>
              <a:t> matang.</a:t>
            </a:r>
            <a:endParaRPr lang="en-US" sz="1100" dirty="0"/>
          </a:p>
          <a:p>
            <a:pPr algn="just"/>
            <a:endParaRPr lang="id-ID" sz="1100" dirty="0"/>
          </a:p>
          <a:p>
            <a:pPr algn="just"/>
            <a:r>
              <a:rPr lang="id-ID" sz="1100" dirty="0"/>
              <a:t>Pemilihan model: UMKM sensitif harga sehingga akuisisi via gratis; nilai </a:t>
            </a:r>
            <a:r>
              <a:rPr lang="id-ID" sz="1100" dirty="0" err="1"/>
              <a:t>termonetisasi</a:t>
            </a:r>
            <a:r>
              <a:rPr lang="id-ID" sz="1100" dirty="0"/>
              <a:t> saat UMKM serius (Pro) dan saat investor/lembaga butuh data (Access/API). </a:t>
            </a:r>
            <a:r>
              <a:rPr lang="id-ID" sz="1100" dirty="0" err="1"/>
              <a:t>Matching</a:t>
            </a:r>
            <a:r>
              <a:rPr lang="id-ID" sz="1100" dirty="0"/>
              <a:t> </a:t>
            </a:r>
            <a:r>
              <a:rPr lang="id-ID" sz="1100" dirty="0" err="1"/>
              <a:t>fee</a:t>
            </a:r>
            <a:r>
              <a:rPr lang="id-ID" sz="1100" dirty="0"/>
              <a:t> menyelaraskan pendapatan dengan keberhasilan pendanaan.</a:t>
            </a:r>
            <a:endParaRPr lang="en-US" sz="1100" dirty="0"/>
          </a:p>
          <a:p>
            <a:pPr algn="just"/>
            <a:endParaRPr lang="id-ID" sz="1100" dirty="0"/>
          </a:p>
          <a:p>
            <a:pPr algn="just"/>
            <a:r>
              <a:rPr lang="id-ID" sz="1100" dirty="0"/>
              <a:t>Funding: </a:t>
            </a:r>
            <a:r>
              <a:rPr lang="id-ID" sz="1100" dirty="0" err="1"/>
              <a:t>bootstrap</a:t>
            </a:r>
            <a:r>
              <a:rPr lang="id-ID" sz="1100" dirty="0"/>
              <a:t> dari langganan + potensi hibah/program inkubasi (</a:t>
            </a:r>
            <a:r>
              <a:rPr lang="id-ID" sz="1100" dirty="0" err="1"/>
              <a:t>mis</a:t>
            </a:r>
            <a:r>
              <a:rPr lang="id-ID" sz="1100" dirty="0"/>
              <a:t>. ekosistem BI/OJK, kampus) untuk ekspansi </a:t>
            </a:r>
            <a:r>
              <a:rPr lang="id-ID" sz="1100" dirty="0" err="1"/>
              <a:t>multi</a:t>
            </a:r>
            <a:r>
              <a:rPr lang="id-ID" sz="1100" dirty="0"/>
              <a:t>-kota — menjaga bisnis berjalan tanpa ketergantungan awal pada investor eksternal.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746425" y="1993900"/>
            <a:ext cx="6033638" cy="117813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BUSINESS MODEL &amp; SCALABILITY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6425" y="1164590"/>
            <a:ext cx="3739853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500" b="1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Cost Structure &amp; Sustainability  (maks 200 kata)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26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A20E0B2-C651-A593-7F03-B268400B1CF4}"/>
              </a:ext>
            </a:extLst>
          </p:cNvPr>
          <p:cNvSpPr/>
          <p:nvPr/>
        </p:nvSpPr>
        <p:spPr>
          <a:xfrm>
            <a:off x="746425" y="1917700"/>
            <a:ext cx="6033638" cy="3124200"/>
          </a:xfrm>
          <a:custGeom>
            <a:avLst/>
            <a:gdLst/>
            <a:ahLst/>
            <a:cxnLst/>
            <a:rect l="l" t="t" r="r" b="b"/>
            <a:pathLst>
              <a:path w="1689312" h="1210280">
                <a:moveTo>
                  <a:pt x="0" y="0"/>
                </a:moveTo>
                <a:lnTo>
                  <a:pt x="1689312" y="0"/>
                </a:lnTo>
                <a:lnTo>
                  <a:pt x="1689312" y="1210280"/>
                </a:lnTo>
                <a:lnTo>
                  <a:pt x="0" y="12102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/>
          <a:lstStyle/>
          <a:p>
            <a:pPr algn="just"/>
            <a:r>
              <a:rPr lang="id-ID" sz="1100" dirty="0"/>
              <a:t>Komponen biaya utama:</a:t>
            </a:r>
            <a:endParaRPr lang="en-US" sz="1100" dirty="0"/>
          </a:p>
          <a:p>
            <a:pPr algn="just"/>
            <a:endParaRPr lang="id-ID" sz="11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id-ID" sz="1100" dirty="0"/>
              <a:t>Engineering &amp; pengembangan AI: ~60% (gaji tim teknis, iterasi produk &amp; model </a:t>
            </a:r>
            <a:r>
              <a:rPr lang="id-ID" sz="1100" dirty="0" err="1"/>
              <a:t>scoring</a:t>
            </a:r>
            <a:r>
              <a:rPr lang="id-ID" sz="1100" dirty="0"/>
              <a:t>).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id-ID" sz="1100" dirty="0"/>
              <a:t>Biaya AI API &amp; </a:t>
            </a:r>
            <a:r>
              <a:rPr lang="id-ID" sz="1100" dirty="0" err="1"/>
              <a:t>cloud</a:t>
            </a:r>
            <a:r>
              <a:rPr lang="id-ID" sz="1100" dirty="0"/>
              <a:t>/server: ~20% (inferensi LLM, </a:t>
            </a:r>
            <a:r>
              <a:rPr lang="id-ID" sz="1100" dirty="0" err="1"/>
              <a:t>Supabase</a:t>
            </a:r>
            <a:r>
              <a:rPr lang="id-ID" sz="1100" dirty="0"/>
              <a:t>/</a:t>
            </a:r>
            <a:r>
              <a:rPr lang="id-ID" sz="1100" dirty="0" err="1"/>
              <a:t>Vercel</a:t>
            </a:r>
            <a:r>
              <a:rPr lang="id-ID" sz="1100" dirty="0"/>
              <a:t>, </a:t>
            </a:r>
            <a:r>
              <a:rPr lang="id-ID" sz="1100" dirty="0" err="1"/>
              <a:t>storage</a:t>
            </a:r>
            <a:r>
              <a:rPr lang="id-ID" sz="1100" dirty="0"/>
              <a:t>). Ditekan via </a:t>
            </a:r>
            <a:r>
              <a:rPr lang="id-ID" sz="1100" dirty="0" err="1"/>
              <a:t>fallback</a:t>
            </a:r>
            <a:r>
              <a:rPr lang="id-ID" sz="1100" dirty="0"/>
              <a:t> </a:t>
            </a:r>
            <a:r>
              <a:rPr lang="id-ID" sz="1100" dirty="0" err="1"/>
              <a:t>rule-based</a:t>
            </a:r>
            <a:r>
              <a:rPr lang="id-ID" sz="1100" dirty="0"/>
              <a:t>, </a:t>
            </a:r>
            <a:r>
              <a:rPr lang="id-ID" sz="1100" dirty="0" err="1"/>
              <a:t>caching</a:t>
            </a:r>
            <a:r>
              <a:rPr lang="id-ID" sz="1100" dirty="0"/>
              <a:t>, dan pemilihan model hemat.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id-ID" sz="1100" dirty="0" err="1"/>
              <a:t>Marketing</a:t>
            </a:r>
            <a:r>
              <a:rPr lang="id-ID" sz="1100" dirty="0"/>
              <a:t> &amp; akuisisi pengguna: ~15% (komunitas, konten, </a:t>
            </a:r>
            <a:r>
              <a:rPr lang="id-ID" sz="1100" dirty="0" err="1"/>
              <a:t>event</a:t>
            </a:r>
            <a:r>
              <a:rPr lang="id-ID" sz="1100" dirty="0"/>
              <a:t>) — CAC rendah karena kanal komunitas.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id-ID" sz="1100" dirty="0"/>
              <a:t>Operasional, legal/</a:t>
            </a:r>
            <a:r>
              <a:rPr lang="id-ID" sz="1100" dirty="0" err="1"/>
              <a:t>compliance</a:t>
            </a:r>
            <a:r>
              <a:rPr lang="id-ID" sz="1100" dirty="0"/>
              <a:t> &amp; </a:t>
            </a:r>
            <a:r>
              <a:rPr lang="id-ID" sz="1100" dirty="0" err="1"/>
              <a:t>maintenance</a:t>
            </a:r>
            <a:r>
              <a:rPr lang="id-ID" sz="1100" dirty="0"/>
              <a:t>: ~5%.</a:t>
            </a:r>
          </a:p>
          <a:p>
            <a:pPr algn="just"/>
            <a:endParaRPr lang="en-US" sz="1100" dirty="0"/>
          </a:p>
          <a:p>
            <a:pPr algn="just"/>
            <a:r>
              <a:rPr lang="id-ID" sz="1100" dirty="0"/>
              <a:t>Keberlanjutan finansial: unit </a:t>
            </a:r>
            <a:r>
              <a:rPr lang="id-ID" sz="1100" dirty="0" err="1"/>
              <a:t>economics</a:t>
            </a:r>
            <a:r>
              <a:rPr lang="id-ID" sz="1100" dirty="0"/>
              <a:t> sehat — CAC UMKM Rp50–150 ribu (via komunitas), LTV Pro ~Rp1,788 juta (12 bulan), rasio LTV/CAC ~12–36×, </a:t>
            </a:r>
            <a:r>
              <a:rPr lang="id-ID" sz="1100" dirty="0" err="1"/>
              <a:t>payback</a:t>
            </a:r>
            <a:r>
              <a:rPr lang="id-ID" sz="1100" dirty="0"/>
              <a:t> &lt;1 bulan (estimasi). Margin </a:t>
            </a:r>
            <a:r>
              <a:rPr lang="id-ID" sz="1100" dirty="0" err="1"/>
              <a:t>SaaS</a:t>
            </a:r>
            <a:r>
              <a:rPr lang="id-ID" sz="1100" dirty="0"/>
              <a:t> tinggi; biaya marginal per UMKM tambahan kecil.</a:t>
            </a:r>
            <a:endParaRPr lang="en-US" sz="1100" dirty="0"/>
          </a:p>
          <a:p>
            <a:pPr algn="just"/>
            <a:endParaRPr lang="id-ID" sz="1100" dirty="0"/>
          </a:p>
          <a:p>
            <a:pPr algn="just"/>
            <a:r>
              <a:rPr lang="id-ID" sz="1100" dirty="0"/>
              <a:t>Jalur menuju </a:t>
            </a:r>
            <a:r>
              <a:rPr lang="id-ID" sz="1100" dirty="0" err="1"/>
              <a:t>sustainability</a:t>
            </a:r>
            <a:r>
              <a:rPr lang="id-ID" sz="1100" dirty="0"/>
              <a:t>: (1) pendapatan langganan menutup operasional pada skala ratusan UMKM Pro + beberapa mitra B2B; (2) data </a:t>
            </a:r>
            <a:r>
              <a:rPr lang="id-ID" sz="1100" dirty="0" err="1"/>
              <a:t>flywheel</a:t>
            </a:r>
            <a:r>
              <a:rPr lang="id-ID" sz="1100" dirty="0"/>
              <a:t> menurunkan biaya akuisisi &amp; meningkatkan nilai skor seiring waktu; (3) pendapatan B2B API &amp; </a:t>
            </a:r>
            <a:r>
              <a:rPr lang="id-ID" sz="1100" dirty="0" err="1"/>
              <a:t>matching</a:t>
            </a:r>
            <a:r>
              <a:rPr lang="id-ID" sz="1100" dirty="0"/>
              <a:t> </a:t>
            </a:r>
            <a:r>
              <a:rPr lang="id-ID" sz="1100" dirty="0" err="1"/>
              <a:t>fee</a:t>
            </a:r>
            <a:r>
              <a:rPr lang="id-ID" sz="1100" dirty="0"/>
              <a:t> menambah margin tanpa biaya akuisisi UMKM satu per satu. Diversifikasi pendapatan menjaga ketahanan.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746425" y="1993900"/>
            <a:ext cx="6033638" cy="117813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BUSINESS MODEL &amp; SCALABILITY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6425" y="1164590"/>
            <a:ext cx="3739853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500" b="1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Scalability  (maks 170 kata)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27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A20E0B2-C651-A593-7F03-B268400B1CF4}"/>
              </a:ext>
            </a:extLst>
          </p:cNvPr>
          <p:cNvSpPr/>
          <p:nvPr/>
        </p:nvSpPr>
        <p:spPr>
          <a:xfrm>
            <a:off x="746425" y="1689100"/>
            <a:ext cx="6033638" cy="2819400"/>
          </a:xfrm>
          <a:custGeom>
            <a:avLst/>
            <a:gdLst/>
            <a:ahLst/>
            <a:cxnLst/>
            <a:rect l="l" t="t" r="r" b="b"/>
            <a:pathLst>
              <a:path w="1689312" h="1210280">
                <a:moveTo>
                  <a:pt x="0" y="0"/>
                </a:moveTo>
                <a:lnTo>
                  <a:pt x="1689312" y="0"/>
                </a:lnTo>
                <a:lnTo>
                  <a:pt x="1689312" y="1210280"/>
                </a:lnTo>
                <a:lnTo>
                  <a:pt x="0" y="12102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/>
          <a:lstStyle/>
          <a:p>
            <a:r>
              <a:rPr lang="id-ID" sz="1100" dirty="0"/>
              <a:t>Solusi dirancang </a:t>
            </a:r>
            <a:r>
              <a:rPr lang="id-ID" sz="1100" dirty="0" err="1"/>
              <a:t>cloud-native</a:t>
            </a:r>
            <a:r>
              <a:rPr lang="id-ID" sz="1100" dirty="0"/>
              <a:t> &amp; </a:t>
            </a:r>
            <a:r>
              <a:rPr lang="id-ID" sz="1100" dirty="0" err="1"/>
              <a:t>multi-tenant</a:t>
            </a:r>
            <a:r>
              <a:rPr lang="id-ID" sz="1100" dirty="0"/>
              <a:t> (</a:t>
            </a:r>
            <a:r>
              <a:rPr lang="id-ID" sz="1100" dirty="0" err="1"/>
              <a:t>Supabase</a:t>
            </a:r>
            <a:r>
              <a:rPr lang="id-ID" sz="1100" dirty="0"/>
              <a:t>/</a:t>
            </a:r>
            <a:r>
              <a:rPr lang="id-ID" sz="1100" dirty="0" err="1"/>
              <a:t>PostgreSQL</a:t>
            </a:r>
            <a:r>
              <a:rPr lang="id-ID" sz="1100" dirty="0"/>
              <a:t> + </a:t>
            </a:r>
            <a:r>
              <a:rPr lang="id-ID" sz="1100" dirty="0" err="1"/>
              <a:t>Vercel</a:t>
            </a:r>
            <a:r>
              <a:rPr lang="id-ID" sz="1100" dirty="0"/>
              <a:t>), sehingga dapat skala horizontal ke ribuan UMKM dengan auto-</a:t>
            </a:r>
            <a:r>
              <a:rPr lang="id-ID" sz="1100" dirty="0" err="1"/>
              <a:t>scaling</a:t>
            </a:r>
            <a:r>
              <a:rPr lang="id-ID" sz="1100" dirty="0"/>
              <a:t> tanpa perombakan arsitektur. Faktor pendukung </a:t>
            </a:r>
            <a:r>
              <a:rPr lang="id-ID" sz="1100" dirty="0" err="1"/>
              <a:t>skalabilitas</a:t>
            </a:r>
            <a:r>
              <a:rPr lang="id-ID" sz="1100" dirty="0"/>
              <a:t>:</a:t>
            </a:r>
            <a:endParaRPr lang="en-US" sz="1100" dirty="0"/>
          </a:p>
          <a:p>
            <a:endParaRPr lang="id-ID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Arsitektur modular &amp; API-</a:t>
            </a:r>
            <a:r>
              <a:rPr lang="id-ID" sz="1100" dirty="0" err="1"/>
              <a:t>first</a:t>
            </a:r>
            <a:r>
              <a:rPr lang="id-ID" sz="1100" dirty="0"/>
              <a:t>: fitur dan integrasi dapat ditambah bertahap.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Data </a:t>
            </a:r>
            <a:r>
              <a:rPr lang="id-ID" sz="1100" dirty="0" err="1"/>
              <a:t>flywheel</a:t>
            </a:r>
            <a:r>
              <a:rPr lang="id-ID" sz="1100" dirty="0"/>
              <a:t>: makin banyak UMKM, makin akurat skor &amp; </a:t>
            </a:r>
            <a:r>
              <a:rPr lang="id-ID" sz="1100" dirty="0" err="1"/>
              <a:t>benchmark</a:t>
            </a:r>
            <a:r>
              <a:rPr lang="id-ID" sz="1100" dirty="0"/>
              <a:t>, makin tinggi daya tarik bagi investor — menurunkan biaya akuisisi seiring waktu.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Distribusi B2B (API ke BPR/Koperasi/</a:t>
            </a:r>
            <a:r>
              <a:rPr lang="id-ID" sz="1100" dirty="0" err="1"/>
              <a:t>Fintech</a:t>
            </a:r>
            <a:r>
              <a:rPr lang="id-ID" sz="1100" dirty="0"/>
              <a:t>): menjangkau banyak UMKM lewat mitra tanpa akuisisi satu per satu.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PWA </a:t>
            </a:r>
            <a:r>
              <a:rPr lang="id-ID" sz="1100" dirty="0" err="1"/>
              <a:t>mobile-first</a:t>
            </a:r>
            <a:r>
              <a:rPr lang="id-ID" sz="1100" dirty="0"/>
              <a:t>: tanpa instalasi, mudah menjangkau wilayah baru.</a:t>
            </a:r>
          </a:p>
          <a:p>
            <a:endParaRPr lang="en-US" sz="1100" dirty="0"/>
          </a:p>
          <a:p>
            <a:r>
              <a:rPr lang="id-ID" sz="1100" dirty="0"/>
              <a:t>Yang perlu disiapkan agar tak terhenti di skala kecil: kalibrasi model </a:t>
            </a:r>
            <a:r>
              <a:rPr lang="id-ID" sz="1100" dirty="0" err="1"/>
              <a:t>scoring</a:t>
            </a:r>
            <a:r>
              <a:rPr lang="id-ID" sz="1100" dirty="0"/>
              <a:t> lintas kategori/kota, </a:t>
            </a:r>
            <a:r>
              <a:rPr lang="id-ID" sz="1100" dirty="0" err="1"/>
              <a:t>hardening</a:t>
            </a:r>
            <a:r>
              <a:rPr lang="id-ID" sz="1100" dirty="0"/>
              <a:t> keamanan &amp; </a:t>
            </a:r>
            <a:r>
              <a:rPr lang="id-ID" sz="1100" dirty="0" err="1"/>
              <a:t>compliance</a:t>
            </a:r>
            <a:r>
              <a:rPr lang="id-ID" sz="1100" dirty="0"/>
              <a:t>, </a:t>
            </a:r>
            <a:r>
              <a:rPr lang="id-ID" sz="1100" dirty="0" err="1"/>
              <a:t>monitoring</a:t>
            </a:r>
            <a:r>
              <a:rPr lang="id-ID" sz="1100" dirty="0"/>
              <a:t> performa &amp; biaya AI, serta tim </a:t>
            </a:r>
            <a:r>
              <a:rPr lang="id-ID" sz="1100" dirty="0" err="1"/>
              <a:t>customer</a:t>
            </a:r>
            <a:r>
              <a:rPr lang="id-ID" sz="1100" dirty="0"/>
              <a:t> </a:t>
            </a:r>
            <a:r>
              <a:rPr lang="id-ID" sz="1100" dirty="0" err="1"/>
              <a:t>success</a:t>
            </a:r>
            <a:r>
              <a:rPr lang="id-ID" sz="1100" dirty="0"/>
              <a:t> untuk </a:t>
            </a:r>
            <a:r>
              <a:rPr lang="id-ID" sz="1100" dirty="0" err="1"/>
              <a:t>onboarding</a:t>
            </a:r>
            <a:r>
              <a:rPr lang="id-ID" sz="1100" dirty="0"/>
              <a:t> massal. Ekspansi: Yogyakarta → kota lain → nasional, lalu integrasi </a:t>
            </a:r>
            <a:r>
              <a:rPr lang="id-ID" sz="1100" dirty="0" err="1"/>
              <a:t>marketplace</a:t>
            </a:r>
            <a:r>
              <a:rPr lang="id-ID" sz="1100" dirty="0"/>
              <a:t> dan </a:t>
            </a:r>
            <a:r>
              <a:rPr lang="id-ID" sz="1100" dirty="0" err="1"/>
              <a:t>benchmark</a:t>
            </a:r>
            <a:r>
              <a:rPr lang="id-ID" sz="1100" dirty="0"/>
              <a:t> industri.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746425" y="1993900"/>
            <a:ext cx="6033638" cy="117813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BUSINESS MODEL &amp; SCALABILITY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6425" y="1164590"/>
            <a:ext cx="3739853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500" b="1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Partnership &amp; Distribution  (maks 170 kata)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28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A20E0B2-C651-A593-7F03-B268400B1CF4}"/>
              </a:ext>
            </a:extLst>
          </p:cNvPr>
          <p:cNvSpPr/>
          <p:nvPr/>
        </p:nvSpPr>
        <p:spPr>
          <a:xfrm>
            <a:off x="746425" y="1917700"/>
            <a:ext cx="6033638" cy="2971800"/>
          </a:xfrm>
          <a:custGeom>
            <a:avLst/>
            <a:gdLst/>
            <a:ahLst/>
            <a:cxnLst/>
            <a:rect l="l" t="t" r="r" b="b"/>
            <a:pathLst>
              <a:path w="1689312" h="1210280">
                <a:moveTo>
                  <a:pt x="0" y="0"/>
                </a:moveTo>
                <a:lnTo>
                  <a:pt x="1689312" y="0"/>
                </a:lnTo>
                <a:lnTo>
                  <a:pt x="1689312" y="1210280"/>
                </a:lnTo>
                <a:lnTo>
                  <a:pt x="0" y="12102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/>
          <a:lstStyle/>
          <a:p>
            <a:r>
              <a:rPr lang="id-ID" sz="1100" dirty="0"/>
              <a:t>Strategi distribusi berlapis: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Akuisisi UMKM (komunitas): komunitas </a:t>
            </a:r>
            <a:r>
              <a:rPr lang="id-ID" sz="1100" dirty="0" err="1"/>
              <a:t>WhatsApp</a:t>
            </a:r>
            <a:r>
              <a:rPr lang="id-ID" sz="1100" dirty="0"/>
              <a:t> warung digital, Instagram &amp; konten edukasi, </a:t>
            </a:r>
            <a:r>
              <a:rPr lang="id-ID" sz="1100" dirty="0" err="1"/>
              <a:t>event</a:t>
            </a:r>
            <a:r>
              <a:rPr lang="id-ID" sz="1100" dirty="0"/>
              <a:t>/bazar UMKM, serta kemitraan kampus/inkubator. CAC rendah, kepercayaan tinggi.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Distribusi via mitra (B2B2C): BPR, Koperasi simpan pinjam, dan </a:t>
            </a:r>
            <a:r>
              <a:rPr lang="id-ID" sz="1100" dirty="0" err="1"/>
              <a:t>Fintech</a:t>
            </a:r>
            <a:r>
              <a:rPr lang="id-ID" sz="1100" dirty="0"/>
              <a:t> P2P sebagai </a:t>
            </a:r>
            <a:r>
              <a:rPr lang="id-ID" sz="1100" dirty="0" err="1"/>
              <a:t>channel</a:t>
            </a:r>
            <a:r>
              <a:rPr lang="id-ID" sz="1100" dirty="0"/>
              <a:t> ke investor sekaligus pengguna skor (lewat Investor Access/API) — menjangkau banyak UMKM secara tidak langsung.</a:t>
            </a:r>
            <a:endParaRPr lang="en-US" sz="1100" dirty="0"/>
          </a:p>
          <a:p>
            <a:endParaRPr lang="id-ID" sz="1100" dirty="0"/>
          </a:p>
          <a:p>
            <a:r>
              <a:rPr lang="id-ID" sz="1100" dirty="0"/>
              <a:t>Calon mitra &amp; peran: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 err="1"/>
              <a:t>GoFood</a:t>
            </a:r>
            <a:r>
              <a:rPr lang="id-ID" sz="1100" dirty="0"/>
              <a:t>/</a:t>
            </a:r>
            <a:r>
              <a:rPr lang="id-ID" sz="1100" dirty="0" err="1"/>
              <a:t>GrabFood</a:t>
            </a:r>
            <a:r>
              <a:rPr lang="id-ID" sz="1100" dirty="0"/>
              <a:t> — sumber data </a:t>
            </a:r>
            <a:r>
              <a:rPr lang="id-ID" sz="1100" dirty="0" err="1"/>
              <a:t>marketplace</a:t>
            </a:r>
            <a:r>
              <a:rPr lang="id-ID" sz="1100" dirty="0"/>
              <a:t> untuk memperkaya skor.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BPR/Koperasi/</a:t>
            </a:r>
            <a:r>
              <a:rPr lang="id-ID" sz="1100" dirty="0" err="1"/>
              <a:t>Fintech</a:t>
            </a:r>
            <a:r>
              <a:rPr lang="id-ID" sz="1100" dirty="0"/>
              <a:t> P2P — pengguna skor &amp; penyalur pembiayaan; </a:t>
            </a:r>
            <a:r>
              <a:rPr lang="id-ID" sz="1100" dirty="0" err="1"/>
              <a:t>channel</a:t>
            </a:r>
            <a:r>
              <a:rPr lang="id-ID" sz="1100" dirty="0"/>
              <a:t> distribusi.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Bank Indonesia/OJK — keselarasan ekosistem &amp; </a:t>
            </a:r>
            <a:r>
              <a:rPr lang="id-ID" sz="1100" dirty="0" err="1"/>
              <a:t>Innovative</a:t>
            </a:r>
            <a:r>
              <a:rPr lang="id-ID" sz="1100" dirty="0"/>
              <a:t> </a:t>
            </a:r>
            <a:r>
              <a:rPr lang="id-ID" sz="1100" dirty="0" err="1"/>
              <a:t>Credit</a:t>
            </a:r>
            <a:r>
              <a:rPr lang="id-ID" sz="1100" dirty="0"/>
              <a:t> </a:t>
            </a:r>
            <a:r>
              <a:rPr lang="id-ID" sz="1100" dirty="0" err="1"/>
              <a:t>Scoring</a:t>
            </a:r>
            <a:r>
              <a:rPr lang="id-ID" sz="1100" dirty="0"/>
              <a:t>; kredibilitas.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Asosiasi UMKM &amp; pemerintah daerah — akses ke basis pelaku usaha untuk pilot.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Kampus (UGM) — riset, validasi, dan talenta.</a:t>
            </a:r>
            <a:endParaRPr lang="en-US" sz="1100" dirty="0"/>
          </a:p>
          <a:p>
            <a:endParaRPr lang="id-ID" sz="1100" dirty="0"/>
          </a:p>
          <a:p>
            <a:r>
              <a:rPr lang="id-ID" sz="1100" dirty="0"/>
              <a:t>Pendekatan: mulai dari pilot komunitas Yogyakarta, lalu kunci 1–2 mitra pembiayaan sebagai bukti </a:t>
            </a:r>
            <a:r>
              <a:rPr lang="id-ID" sz="1100" dirty="0" err="1"/>
              <a:t>deal</a:t>
            </a:r>
            <a:r>
              <a:rPr lang="id-ID" sz="1100" dirty="0"/>
              <a:t> </a:t>
            </a:r>
            <a:r>
              <a:rPr lang="id-ID" sz="1100" dirty="0" err="1"/>
              <a:t>flow</a:t>
            </a:r>
            <a:r>
              <a:rPr lang="id-ID" sz="1100" dirty="0"/>
              <a:t>, kemudian replikasi ke kota lain.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746425" y="1993900"/>
            <a:ext cx="6033638" cy="117813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PROGRESS UPDATE &amp; ATTACHMENT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6425" y="1469390"/>
            <a:ext cx="3739853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500" b="1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Progress Since the 1st Submission  (maks 150 kata)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29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A20E0B2-C651-A593-7F03-B268400B1CF4}"/>
              </a:ext>
            </a:extLst>
          </p:cNvPr>
          <p:cNvSpPr/>
          <p:nvPr/>
        </p:nvSpPr>
        <p:spPr>
          <a:xfrm>
            <a:off x="746425" y="2070100"/>
            <a:ext cx="6033638" cy="2667000"/>
          </a:xfrm>
          <a:custGeom>
            <a:avLst/>
            <a:gdLst/>
            <a:ahLst/>
            <a:cxnLst/>
            <a:rect l="l" t="t" r="r" b="b"/>
            <a:pathLst>
              <a:path w="1689312" h="1210280">
                <a:moveTo>
                  <a:pt x="0" y="0"/>
                </a:moveTo>
                <a:lnTo>
                  <a:pt x="1689312" y="0"/>
                </a:lnTo>
                <a:lnTo>
                  <a:pt x="1689312" y="1210280"/>
                </a:lnTo>
                <a:lnTo>
                  <a:pt x="0" y="12102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/>
          <a:lstStyle/>
          <a:p>
            <a:r>
              <a:rPr lang="id-ID" sz="1100" dirty="0"/>
              <a:t>Perkembangan konkret sejak </a:t>
            </a:r>
            <a:r>
              <a:rPr lang="id-ID" sz="1100" dirty="0" err="1"/>
              <a:t>submission</a:t>
            </a:r>
            <a:r>
              <a:rPr lang="id-ID" sz="1100" dirty="0"/>
              <a:t> pertama: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Status naik dari konsep/ide menjadi </a:t>
            </a:r>
            <a:r>
              <a:rPr lang="id-ID" sz="1100" dirty="0" err="1"/>
              <a:t>working</a:t>
            </a:r>
            <a:r>
              <a:rPr lang="id-ID" sz="1100" dirty="0"/>
              <a:t> </a:t>
            </a:r>
            <a:r>
              <a:rPr lang="id-ID" sz="1100" dirty="0" err="1"/>
              <a:t>prototype</a:t>
            </a:r>
            <a:r>
              <a:rPr lang="id-ID" sz="1100" dirty="0"/>
              <a:t>: 6 modul berfungsi penuh (</a:t>
            </a:r>
            <a:r>
              <a:rPr lang="id-ID" sz="1100" dirty="0" err="1"/>
              <a:t>Smart</a:t>
            </a:r>
            <a:r>
              <a:rPr lang="id-ID" sz="1100" dirty="0"/>
              <a:t> POS, </a:t>
            </a:r>
            <a:r>
              <a:rPr lang="id-ID" sz="1100" dirty="0" err="1"/>
              <a:t>Smart</a:t>
            </a:r>
            <a:r>
              <a:rPr lang="id-ID" sz="1100" dirty="0"/>
              <a:t> </a:t>
            </a:r>
            <a:r>
              <a:rPr lang="id-ID" sz="1100" dirty="0" err="1"/>
              <a:t>Cashbook</a:t>
            </a:r>
            <a:r>
              <a:rPr lang="id-ID" sz="1100" dirty="0"/>
              <a:t>, AI </a:t>
            </a:r>
            <a:r>
              <a:rPr lang="id-ID" sz="1100" dirty="0" err="1"/>
              <a:t>Coach</a:t>
            </a:r>
            <a:r>
              <a:rPr lang="id-ID" sz="1100" dirty="0"/>
              <a:t>, </a:t>
            </a:r>
            <a:r>
              <a:rPr lang="id-ID" sz="1100" dirty="0" err="1"/>
              <a:t>Health</a:t>
            </a:r>
            <a:r>
              <a:rPr lang="id-ID" sz="1100" dirty="0"/>
              <a:t> </a:t>
            </a:r>
            <a:r>
              <a:rPr lang="id-ID" sz="1100" dirty="0" err="1"/>
              <a:t>Score</a:t>
            </a:r>
            <a:r>
              <a:rPr lang="id-ID" sz="1100" dirty="0"/>
              <a:t>, Investment </a:t>
            </a:r>
            <a:r>
              <a:rPr lang="id-ID" sz="1100" dirty="0" err="1"/>
              <a:t>Readiness</a:t>
            </a:r>
            <a:r>
              <a:rPr lang="id-ID" sz="1100" dirty="0"/>
              <a:t>, Investor </a:t>
            </a:r>
            <a:r>
              <a:rPr lang="id-ID" sz="1100" dirty="0" err="1"/>
              <a:t>Dashboard</a:t>
            </a:r>
            <a:r>
              <a:rPr lang="id-ID" sz="1100" dirty="0"/>
              <a:t>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 err="1"/>
              <a:t>Scoring</a:t>
            </a:r>
            <a:r>
              <a:rPr lang="id-ID" sz="1100" dirty="0"/>
              <a:t> </a:t>
            </a:r>
            <a:r>
              <a:rPr lang="id-ID" sz="1100" dirty="0" err="1"/>
              <a:t>Engine</a:t>
            </a:r>
            <a:r>
              <a:rPr lang="id-ID" sz="1100" dirty="0"/>
              <a:t> benar-benar diimplementasikan (</a:t>
            </a:r>
            <a:r>
              <a:rPr lang="id-ID" sz="1100" dirty="0" err="1"/>
              <a:t>Health</a:t>
            </a:r>
            <a:r>
              <a:rPr lang="id-ID" sz="1100" dirty="0"/>
              <a:t> </a:t>
            </a:r>
            <a:r>
              <a:rPr lang="id-ID" sz="1100" dirty="0" err="1"/>
              <a:t>Score</a:t>
            </a:r>
            <a:r>
              <a:rPr lang="id-ID" sz="1100" dirty="0"/>
              <a:t> 6 komponen + Investment </a:t>
            </a:r>
            <a:r>
              <a:rPr lang="id-ID" sz="1100" dirty="0" err="1"/>
              <a:t>Readiness</a:t>
            </a:r>
            <a:r>
              <a:rPr lang="id-ID" sz="1100" dirty="0"/>
              <a:t>) dan dapat dihitung via API serta tersimpan harian.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Investor </a:t>
            </a:r>
            <a:r>
              <a:rPr lang="id-ID" sz="1100" dirty="0" err="1"/>
              <a:t>Dashboard</a:t>
            </a:r>
            <a:r>
              <a:rPr lang="id-ID" sz="1100" dirty="0"/>
              <a:t> dibangun lengkap dengan peta (</a:t>
            </a:r>
            <a:r>
              <a:rPr lang="id-ID" sz="1100" dirty="0" err="1"/>
              <a:t>Leaflet</a:t>
            </a:r>
            <a:r>
              <a:rPr lang="id-ID" sz="1100" dirty="0"/>
              <a:t>), filter, dan data 10+ UMKM F&amp;B Yogyakarta ter-</a:t>
            </a:r>
            <a:r>
              <a:rPr lang="id-ID" sz="1100" dirty="0" err="1"/>
              <a:t>seed</a:t>
            </a:r>
            <a:r>
              <a:rPr lang="id-ID" sz="1100" dirty="0"/>
              <a:t>; plus generator proposal pendanaan PDF satu klik.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 err="1"/>
              <a:t>Smart</a:t>
            </a:r>
            <a:r>
              <a:rPr lang="id-ID" sz="1100" dirty="0"/>
              <a:t> </a:t>
            </a:r>
            <a:r>
              <a:rPr lang="id-ID" sz="1100" dirty="0" err="1"/>
              <a:t>Cashbook</a:t>
            </a:r>
            <a:r>
              <a:rPr lang="id-ID" sz="1100" dirty="0"/>
              <a:t> ditingkatkan: kategorisasi, deteksi anomali, 5 grafik, ekspor CSV/PDF; serta </a:t>
            </a:r>
            <a:r>
              <a:rPr lang="id-ID" sz="1100" dirty="0" err="1"/>
              <a:t>dashboard</a:t>
            </a:r>
            <a:r>
              <a:rPr lang="id-ID" sz="1100" dirty="0"/>
              <a:t> '</a:t>
            </a:r>
            <a:r>
              <a:rPr lang="id-ID" sz="1100" dirty="0" err="1"/>
              <a:t>command</a:t>
            </a:r>
            <a:r>
              <a:rPr lang="id-ID" sz="1100" dirty="0"/>
              <a:t> </a:t>
            </a:r>
            <a:r>
              <a:rPr lang="id-ID" sz="1100" dirty="0" err="1"/>
              <a:t>center</a:t>
            </a:r>
            <a:r>
              <a:rPr lang="id-ID" sz="1100" dirty="0"/>
              <a:t>' UMKM.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 err="1"/>
              <a:t>Auth</a:t>
            </a:r>
            <a:r>
              <a:rPr lang="id-ID" sz="1100" dirty="0"/>
              <a:t> + </a:t>
            </a:r>
            <a:r>
              <a:rPr lang="id-ID" sz="1100" dirty="0" err="1"/>
              <a:t>Row</a:t>
            </a:r>
            <a:r>
              <a:rPr lang="id-ID" sz="1100" dirty="0"/>
              <a:t> Level </a:t>
            </a:r>
            <a:r>
              <a:rPr lang="id-ID" sz="1100" dirty="0" err="1"/>
              <a:t>Security</a:t>
            </a:r>
            <a:r>
              <a:rPr lang="id-ID" sz="1100" dirty="0"/>
              <a:t> + 2 akun demo siap untuk demonstrasi </a:t>
            </a:r>
            <a:r>
              <a:rPr lang="id-ID" sz="1100" dirty="0" err="1"/>
              <a:t>live</a:t>
            </a:r>
            <a:r>
              <a:rPr lang="id-ID" sz="11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Penajaman narasi &amp; data: koreksi </a:t>
            </a:r>
            <a:r>
              <a:rPr lang="id-ID" sz="1100" dirty="0" err="1"/>
              <a:t>atribusi</a:t>
            </a:r>
            <a:r>
              <a:rPr lang="id-ID" sz="1100" dirty="0"/>
              <a:t> gap pembiayaan, TAM spesifik F&amp;B (4,85 juta), dan penegasan keselarasan ICS OJK / inklusi BI.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746425" y="1993900"/>
            <a:ext cx="6033638" cy="117813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PROGRESS UPDATE &amp; ATTACHMENT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6425" y="1469390"/>
            <a:ext cx="3739853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500" b="1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Current Status  (maks 50 kata)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30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A20E0B2-C651-A593-7F03-B268400B1CF4}"/>
              </a:ext>
            </a:extLst>
          </p:cNvPr>
          <p:cNvSpPr/>
          <p:nvPr/>
        </p:nvSpPr>
        <p:spPr>
          <a:xfrm>
            <a:off x="746425" y="1917700"/>
            <a:ext cx="6033638" cy="990600"/>
          </a:xfrm>
          <a:custGeom>
            <a:avLst/>
            <a:gdLst/>
            <a:ahLst/>
            <a:cxnLst/>
            <a:rect l="l" t="t" r="r" b="b"/>
            <a:pathLst>
              <a:path w="1689312" h="1210280">
                <a:moveTo>
                  <a:pt x="0" y="0"/>
                </a:moveTo>
                <a:lnTo>
                  <a:pt x="1689312" y="0"/>
                </a:lnTo>
                <a:lnTo>
                  <a:pt x="1689312" y="1210280"/>
                </a:lnTo>
                <a:lnTo>
                  <a:pt x="0" y="12102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/>
          <a:lstStyle/>
          <a:p>
            <a:r>
              <a:rPr lang="id-ID" sz="1100" dirty="0" err="1"/>
              <a:t>Working</a:t>
            </a:r>
            <a:r>
              <a:rPr lang="id-ID" sz="1100" dirty="0"/>
              <a:t> </a:t>
            </a:r>
            <a:r>
              <a:rPr lang="id-ID" sz="1100" dirty="0" err="1"/>
              <a:t>Prototype</a:t>
            </a:r>
            <a:r>
              <a:rPr lang="id-ID" sz="1100" dirty="0"/>
              <a:t> — siap demo </a:t>
            </a:r>
            <a:r>
              <a:rPr lang="id-ID" sz="1100" dirty="0" err="1"/>
              <a:t>live</a:t>
            </a:r>
            <a:r>
              <a:rPr lang="id-ID" sz="1100" dirty="0"/>
              <a:t>. Akun demo: umkm@demo.com &amp; investor@demo.com (</a:t>
            </a:r>
            <a:r>
              <a:rPr lang="id-ID" sz="1100" dirty="0" err="1"/>
              <a:t>password</a:t>
            </a:r>
            <a:r>
              <a:rPr lang="id-ID" sz="1100" dirty="0"/>
              <a:t> demo123456). Bukti: 6 modul aktif, data UMKM F&amp;B Yogyakarta ter-</a:t>
            </a:r>
            <a:r>
              <a:rPr lang="id-ID" sz="1100" dirty="0" err="1"/>
              <a:t>seed</a:t>
            </a:r>
            <a:r>
              <a:rPr lang="id-ID" sz="1100" dirty="0"/>
              <a:t> (skor 49–86), alur nyata data → skor → keputusan investor. Fokus berikut: pilot Yogyakarta + OCR nota.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746425" y="1993900"/>
            <a:ext cx="6033638" cy="117813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PROGRESS UPDATE &amp; ATTACHMENT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6425" y="1460500"/>
            <a:ext cx="3739853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500" b="1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Attachment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31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A20E0B2-C651-A593-7F03-B268400B1CF4}"/>
              </a:ext>
            </a:extLst>
          </p:cNvPr>
          <p:cNvSpPr/>
          <p:nvPr/>
        </p:nvSpPr>
        <p:spPr>
          <a:xfrm>
            <a:off x="746425" y="1917700"/>
            <a:ext cx="6033638" cy="5867400"/>
          </a:xfrm>
          <a:custGeom>
            <a:avLst/>
            <a:gdLst/>
            <a:ahLst/>
            <a:cxnLst/>
            <a:rect l="l" t="t" r="r" b="b"/>
            <a:pathLst>
              <a:path w="1689312" h="1210280">
                <a:moveTo>
                  <a:pt x="0" y="0"/>
                </a:moveTo>
                <a:lnTo>
                  <a:pt x="1689312" y="0"/>
                </a:lnTo>
                <a:lnTo>
                  <a:pt x="1689312" y="1210280"/>
                </a:lnTo>
                <a:lnTo>
                  <a:pt x="0" y="12102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Link demo </a:t>
            </a:r>
            <a:r>
              <a:rPr lang="id-ID" sz="1100" dirty="0" err="1"/>
              <a:t>live</a:t>
            </a:r>
            <a:r>
              <a:rPr lang="id-ID" sz="1100" dirty="0"/>
              <a:t> (</a:t>
            </a:r>
            <a:r>
              <a:rPr lang="id-ID" sz="1100" dirty="0" err="1"/>
              <a:t>working</a:t>
            </a:r>
            <a:r>
              <a:rPr lang="id-ID" sz="1100" dirty="0"/>
              <a:t> </a:t>
            </a:r>
            <a:r>
              <a:rPr lang="id-ID" sz="1100" dirty="0" err="1"/>
              <a:t>prototype</a:t>
            </a:r>
            <a:r>
              <a:rPr lang="id-ID" sz="1100" dirty="0"/>
              <a:t>): [ISI URL DEPLOY]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Akun demo: umkm@demo.com / investor@demo.com (</a:t>
            </a:r>
            <a:r>
              <a:rPr lang="id-ID" sz="1100" dirty="0" err="1"/>
              <a:t>password</a:t>
            </a:r>
            <a:r>
              <a:rPr lang="id-ID" sz="1100" dirty="0"/>
              <a:t>: demo123456)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 err="1"/>
              <a:t>Pitch</a:t>
            </a:r>
            <a:r>
              <a:rPr lang="id-ID" sz="1100" dirty="0"/>
              <a:t> </a:t>
            </a:r>
            <a:r>
              <a:rPr lang="id-ID" sz="1100" dirty="0" err="1"/>
              <a:t>deck</a:t>
            </a:r>
            <a:r>
              <a:rPr lang="id-ID" sz="1100" dirty="0"/>
              <a:t> / proposal: </a:t>
            </a:r>
            <a:r>
              <a:rPr lang="id-ID" sz="1100" dirty="0" err="1"/>
              <a:t>file</a:t>
            </a:r>
            <a:r>
              <a:rPr lang="id-ID" sz="1100" dirty="0"/>
              <a:t> PPTX &amp; PDF FINAL ini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/>
              <a:t>Diagram arsitektur sistem &amp; skema solusi (</a:t>
            </a:r>
            <a:r>
              <a:rPr lang="id-ID" sz="1100" dirty="0" err="1"/>
              <a:t>slide</a:t>
            </a:r>
            <a:r>
              <a:rPr lang="id-ID" sz="1100" dirty="0"/>
              <a:t> Solution)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dirty="0" err="1"/>
              <a:t>Screenshot</a:t>
            </a:r>
            <a:r>
              <a:rPr lang="id-ID" sz="1100" dirty="0"/>
              <a:t> modul: POS, </a:t>
            </a:r>
            <a:r>
              <a:rPr lang="id-ID" sz="1100" dirty="0" err="1"/>
              <a:t>Cashbook</a:t>
            </a:r>
            <a:r>
              <a:rPr lang="id-ID" sz="1100" dirty="0"/>
              <a:t>, </a:t>
            </a:r>
            <a:r>
              <a:rPr lang="id-ID" sz="1100" dirty="0" err="1"/>
              <a:t>Health</a:t>
            </a:r>
            <a:r>
              <a:rPr lang="id-ID" sz="1100" dirty="0"/>
              <a:t> </a:t>
            </a:r>
            <a:r>
              <a:rPr lang="id-ID" sz="1100" dirty="0" err="1"/>
              <a:t>Score</a:t>
            </a:r>
            <a:r>
              <a:rPr lang="id-ID" sz="1100" dirty="0"/>
              <a:t>, AI </a:t>
            </a:r>
            <a:r>
              <a:rPr lang="id-ID" sz="1100" dirty="0" err="1"/>
              <a:t>Coach</a:t>
            </a:r>
            <a:r>
              <a:rPr lang="id-ID" sz="1100" dirty="0"/>
              <a:t>, Investor </a:t>
            </a:r>
            <a:r>
              <a:rPr lang="id-ID" sz="1100" dirty="0" err="1"/>
              <a:t>Dashboard</a:t>
            </a:r>
            <a:endParaRPr lang="id-ID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746425" y="1993900"/>
            <a:ext cx="6033638" cy="117813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ATTACHMENT &amp; REFERENCE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6425" y="1164590"/>
            <a:ext cx="3739853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500" b="1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Referensi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32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A20E0B2-C651-A593-7F03-B268400B1CF4}"/>
              </a:ext>
            </a:extLst>
          </p:cNvPr>
          <p:cNvSpPr/>
          <p:nvPr/>
        </p:nvSpPr>
        <p:spPr>
          <a:xfrm>
            <a:off x="746425" y="1917700"/>
            <a:ext cx="6033638" cy="2362200"/>
          </a:xfrm>
          <a:custGeom>
            <a:avLst/>
            <a:gdLst/>
            <a:ahLst/>
            <a:cxnLst/>
            <a:rect l="l" t="t" r="r" b="b"/>
            <a:pathLst>
              <a:path w="1689312" h="1210280">
                <a:moveTo>
                  <a:pt x="0" y="0"/>
                </a:moveTo>
                <a:lnTo>
                  <a:pt x="1689312" y="0"/>
                </a:lnTo>
                <a:lnTo>
                  <a:pt x="1689312" y="1210280"/>
                </a:lnTo>
                <a:lnTo>
                  <a:pt x="0" y="12102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/>
          <a:lstStyle/>
          <a:p>
            <a:r>
              <a:rPr lang="id-ID" sz="900" dirty="0"/>
              <a:t>[1] World Bank &amp; IFC (2023). MSME Finance Gap </a:t>
            </a:r>
            <a:r>
              <a:rPr lang="id-ID" sz="900" dirty="0" err="1"/>
              <a:t>Report</a:t>
            </a:r>
            <a:r>
              <a:rPr lang="id-ID" sz="900" dirty="0"/>
              <a:t>: Indonesia Country </a:t>
            </a:r>
            <a:r>
              <a:rPr lang="id-ID" sz="900" dirty="0" err="1"/>
              <a:t>Brief</a:t>
            </a:r>
            <a:r>
              <a:rPr lang="id-ID" sz="900" dirty="0"/>
              <a:t>.</a:t>
            </a:r>
          </a:p>
          <a:p>
            <a:r>
              <a:rPr lang="id-ID" sz="900" dirty="0"/>
              <a:t>[2] McKinsey Global </a:t>
            </a:r>
            <a:r>
              <a:rPr lang="id-ID" sz="900" dirty="0" err="1"/>
              <a:t>Institute</a:t>
            </a:r>
            <a:r>
              <a:rPr lang="id-ID" sz="900" dirty="0"/>
              <a:t> (2023). </a:t>
            </a:r>
            <a:r>
              <a:rPr lang="id-ID" sz="900" dirty="0" err="1"/>
              <a:t>Closing</a:t>
            </a:r>
            <a:r>
              <a:rPr lang="id-ID" sz="900" dirty="0"/>
              <a:t> </a:t>
            </a:r>
            <a:r>
              <a:rPr lang="id-ID" sz="900" dirty="0" err="1"/>
              <a:t>the</a:t>
            </a:r>
            <a:r>
              <a:rPr lang="id-ID" sz="900" dirty="0"/>
              <a:t> Gap: Digital </a:t>
            </a:r>
            <a:r>
              <a:rPr lang="id-ID" sz="900" dirty="0" err="1"/>
              <a:t>Acceleration</a:t>
            </a:r>
            <a:r>
              <a:rPr lang="id-ID" sz="900" dirty="0"/>
              <a:t> &amp; SME </a:t>
            </a:r>
            <a:r>
              <a:rPr lang="id-ID" sz="900" dirty="0" err="1"/>
              <a:t>Credit</a:t>
            </a:r>
            <a:r>
              <a:rPr lang="id-ID" sz="900" dirty="0"/>
              <a:t> Access in SEA.</a:t>
            </a:r>
          </a:p>
          <a:p>
            <a:r>
              <a:rPr lang="id-ID" sz="900" dirty="0"/>
              <a:t>[3] OJK (2023). Survei Nasional </a:t>
            </a:r>
            <a:r>
              <a:rPr lang="id-ID" sz="900" dirty="0" err="1"/>
              <a:t>Literasi</a:t>
            </a:r>
            <a:r>
              <a:rPr lang="id-ID" sz="900" dirty="0"/>
              <a:t> dan Inklusi Keuangan UMKM 2023.</a:t>
            </a:r>
          </a:p>
          <a:p>
            <a:r>
              <a:rPr lang="id-ID" sz="900" dirty="0"/>
              <a:t>[4] OJK (2024). Statistik Kredit/Pembiayaan UMKM (porsi ~19,8%) &amp; arah </a:t>
            </a:r>
            <a:r>
              <a:rPr lang="id-ID" sz="900" dirty="0" err="1"/>
              <a:t>Innovative</a:t>
            </a:r>
            <a:r>
              <a:rPr lang="id-ID" sz="900" dirty="0"/>
              <a:t> </a:t>
            </a:r>
            <a:r>
              <a:rPr lang="id-ID" sz="900" dirty="0" err="1"/>
              <a:t>Credit</a:t>
            </a:r>
            <a:r>
              <a:rPr lang="id-ID" sz="900" dirty="0"/>
              <a:t> </a:t>
            </a:r>
            <a:r>
              <a:rPr lang="id-ID" sz="900" dirty="0" err="1"/>
              <a:t>Scoring</a:t>
            </a:r>
            <a:r>
              <a:rPr lang="id-ID" sz="900" dirty="0"/>
              <a:t> (ICS).</a:t>
            </a:r>
          </a:p>
          <a:p>
            <a:r>
              <a:rPr lang="id-ID" sz="900" dirty="0"/>
              <a:t>[5] OCBC &amp; </a:t>
            </a:r>
            <a:r>
              <a:rPr lang="id-ID" sz="900" dirty="0" err="1"/>
              <a:t>NielsenIQ</a:t>
            </a:r>
            <a:r>
              <a:rPr lang="id-ID" sz="900" dirty="0"/>
              <a:t> (2024). Business </a:t>
            </a:r>
            <a:r>
              <a:rPr lang="id-ID" sz="900" dirty="0" err="1"/>
              <a:t>Fitness</a:t>
            </a:r>
            <a:r>
              <a:rPr lang="id-ID" sz="900" dirty="0"/>
              <a:t> Index 2024: Perilaku Keuangan UMKM Indonesia.</a:t>
            </a:r>
          </a:p>
          <a:p>
            <a:r>
              <a:rPr lang="id-ID" sz="900" dirty="0"/>
              <a:t>[6] Badan Pusat Statistik (2023). Statistik usaha penyediaan makan-minum (~4,85 juta usaha).</a:t>
            </a:r>
          </a:p>
          <a:p>
            <a:r>
              <a:rPr lang="id-ID" sz="900" dirty="0"/>
              <a:t>[7] Kementerian Koperasi dan UKM (2025). Data UMKM &amp; akses kredit (69,5% belum akses).</a:t>
            </a:r>
          </a:p>
          <a:p>
            <a:r>
              <a:rPr lang="id-ID" sz="900" dirty="0"/>
              <a:t>[8] </a:t>
            </a:r>
            <a:r>
              <a:rPr lang="id-ID" sz="900" dirty="0" err="1"/>
              <a:t>Kemenko</a:t>
            </a:r>
            <a:r>
              <a:rPr lang="id-ID" sz="900" dirty="0"/>
              <a:t> Perekonomian. Estimasi gap pembiayaan UMKM (kebutuhan vs pasokan ≈ Rp2.400 triliun).</a:t>
            </a:r>
          </a:p>
          <a:p>
            <a:r>
              <a:rPr lang="id-ID" sz="900" dirty="0"/>
              <a:t>[9] POJK No. 16/POJK.04/2021 tentang Equity </a:t>
            </a:r>
            <a:r>
              <a:rPr lang="id-ID" sz="900" dirty="0" err="1"/>
              <a:t>Crowdfunding</a:t>
            </a:r>
            <a:r>
              <a:rPr lang="id-ID" sz="900" dirty="0"/>
              <a:t>; POJK terkait LPBBTI/P2P.</a:t>
            </a:r>
          </a:p>
          <a:p>
            <a:r>
              <a:rPr lang="id-ID" sz="900" dirty="0"/>
              <a:t>[10] UU No. 27 Tahun 2022 tentang Pelindungan Data Pribadi.</a:t>
            </a:r>
          </a:p>
          <a:p>
            <a:r>
              <a:rPr lang="id-ID" sz="900" dirty="0"/>
              <a:t>[11] </a:t>
            </a:r>
            <a:r>
              <a:rPr lang="id-ID" sz="900" dirty="0" err="1"/>
              <a:t>Lewis</a:t>
            </a:r>
            <a:r>
              <a:rPr lang="id-ID" sz="900" dirty="0"/>
              <a:t>, P., </a:t>
            </a:r>
            <a:r>
              <a:rPr lang="id-ID" sz="900" dirty="0" err="1"/>
              <a:t>et</a:t>
            </a:r>
            <a:r>
              <a:rPr lang="id-ID" sz="900" dirty="0"/>
              <a:t> </a:t>
            </a:r>
            <a:r>
              <a:rPr lang="id-ID" sz="900" dirty="0" err="1"/>
              <a:t>al.</a:t>
            </a:r>
            <a:r>
              <a:rPr lang="id-ID" sz="900" dirty="0"/>
              <a:t> (2020). </a:t>
            </a:r>
            <a:r>
              <a:rPr lang="id-ID" sz="900" dirty="0" err="1"/>
              <a:t>Retrieval-Augmented</a:t>
            </a:r>
            <a:r>
              <a:rPr lang="id-ID" sz="900" dirty="0"/>
              <a:t> </a:t>
            </a:r>
            <a:r>
              <a:rPr lang="id-ID" sz="900" dirty="0" err="1"/>
              <a:t>Generation</a:t>
            </a:r>
            <a:r>
              <a:rPr lang="id-ID" sz="900" dirty="0"/>
              <a:t> </a:t>
            </a:r>
            <a:r>
              <a:rPr lang="id-ID" sz="900" dirty="0" err="1"/>
              <a:t>for</a:t>
            </a:r>
            <a:r>
              <a:rPr lang="id-ID" sz="900" dirty="0"/>
              <a:t> </a:t>
            </a:r>
            <a:r>
              <a:rPr lang="id-ID" sz="900" dirty="0" err="1"/>
              <a:t>Knowledge-Intensive</a:t>
            </a:r>
            <a:r>
              <a:rPr lang="id-ID" sz="900" dirty="0"/>
              <a:t> NLP. </a:t>
            </a:r>
            <a:r>
              <a:rPr lang="id-ID" sz="900" dirty="0" err="1"/>
              <a:t>NeurIPS</a:t>
            </a:r>
            <a:r>
              <a:rPr lang="id-ID" sz="900" dirty="0"/>
              <a:t>.</a:t>
            </a:r>
          </a:p>
          <a:p>
            <a:r>
              <a:rPr lang="id-ID" sz="900" dirty="0"/>
              <a:t>[12] Taylor, S.J. &amp; </a:t>
            </a:r>
            <a:r>
              <a:rPr lang="id-ID" sz="900" dirty="0" err="1"/>
              <a:t>Letham</a:t>
            </a:r>
            <a:r>
              <a:rPr lang="id-ID" sz="900" dirty="0"/>
              <a:t>, B. (2018). </a:t>
            </a:r>
            <a:r>
              <a:rPr lang="id-ID" sz="900" dirty="0" err="1"/>
              <a:t>Forecasting</a:t>
            </a:r>
            <a:r>
              <a:rPr lang="id-ID" sz="900" dirty="0"/>
              <a:t> </a:t>
            </a:r>
            <a:r>
              <a:rPr lang="id-ID" sz="900" dirty="0" err="1"/>
              <a:t>at</a:t>
            </a:r>
            <a:r>
              <a:rPr lang="id-ID" sz="900" dirty="0"/>
              <a:t> </a:t>
            </a:r>
            <a:r>
              <a:rPr lang="id-ID" sz="900" dirty="0" err="1"/>
              <a:t>Scale</a:t>
            </a:r>
            <a:r>
              <a:rPr lang="id-ID" sz="900" dirty="0"/>
              <a:t> (</a:t>
            </a:r>
            <a:r>
              <a:rPr lang="id-ID" sz="900" dirty="0" err="1"/>
              <a:t>Prophet</a:t>
            </a:r>
            <a:r>
              <a:rPr lang="id-ID" sz="900" dirty="0"/>
              <a:t>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7560000" cy="10692000"/>
          </a:xfrm>
          <a:custGeom>
            <a:avLst/>
            <a:gdLst/>
            <a:ahLst/>
            <a:cxnLst/>
            <a:rect l="l" t="t" r="r" b="b"/>
            <a:pathLst>
              <a:path w="7560000" h="10692000">
                <a:moveTo>
                  <a:pt x="0" y="0"/>
                </a:moveTo>
                <a:lnTo>
                  <a:pt x="7560000" y="0"/>
                </a:lnTo>
                <a:lnTo>
                  <a:pt x="7560000" y="10692000"/>
                </a:lnTo>
                <a:lnTo>
                  <a:pt x="0" y="1069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11" t="-4099" r="-1511" b="-409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22613" y="4693338"/>
            <a:ext cx="5114773" cy="652662"/>
            <a:chOff x="0" y="0"/>
            <a:chExt cx="6819698" cy="870217"/>
          </a:xfrm>
        </p:grpSpPr>
        <p:sp>
          <p:nvSpPr>
            <p:cNvPr id="4" name="Freeform 4"/>
            <p:cNvSpPr/>
            <p:nvPr/>
          </p:nvSpPr>
          <p:spPr>
            <a:xfrm>
              <a:off x="3255378" y="0"/>
              <a:ext cx="601698" cy="870217"/>
            </a:xfrm>
            <a:custGeom>
              <a:avLst/>
              <a:gdLst/>
              <a:ahLst/>
              <a:cxnLst/>
              <a:rect l="l" t="t" r="r" b="b"/>
              <a:pathLst>
                <a:path w="601698" h="870217">
                  <a:moveTo>
                    <a:pt x="0" y="0"/>
                  </a:moveTo>
                  <a:lnTo>
                    <a:pt x="601698" y="0"/>
                  </a:lnTo>
                  <a:lnTo>
                    <a:pt x="601698" y="870217"/>
                  </a:lnTo>
                  <a:lnTo>
                    <a:pt x="0" y="8702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11018" r="-592956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3975127" y="84686"/>
              <a:ext cx="2844570" cy="700844"/>
            </a:xfrm>
            <a:custGeom>
              <a:avLst/>
              <a:gdLst/>
              <a:ahLst/>
              <a:cxnLst/>
              <a:rect l="l" t="t" r="r" b="b"/>
              <a:pathLst>
                <a:path w="2844570" h="700844">
                  <a:moveTo>
                    <a:pt x="0" y="0"/>
                  </a:moveTo>
                  <a:lnTo>
                    <a:pt x="2844571" y="0"/>
                  </a:lnTo>
                  <a:lnTo>
                    <a:pt x="2844571" y="700844"/>
                  </a:lnTo>
                  <a:lnTo>
                    <a:pt x="0" y="7008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22138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3135922" cy="812019"/>
            </a:xfrm>
            <a:custGeom>
              <a:avLst/>
              <a:gdLst/>
              <a:ahLst/>
              <a:cxnLst/>
              <a:rect l="l" t="t" r="r" b="b"/>
              <a:pathLst>
                <a:path w="3135922" h="812019">
                  <a:moveTo>
                    <a:pt x="0" y="0"/>
                  </a:moveTo>
                  <a:lnTo>
                    <a:pt x="3135922" y="0"/>
                  </a:lnTo>
                  <a:lnTo>
                    <a:pt x="3135922" y="812019"/>
                  </a:lnTo>
                  <a:lnTo>
                    <a:pt x="0" y="812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2337" r="-1127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098134" y="5555342"/>
            <a:ext cx="5341220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US" sz="1500">
                <a:solidFill>
                  <a:srgbClr val="E6EBF4"/>
                </a:solidFill>
                <a:latin typeface="Mortend Bold"/>
                <a:ea typeface="Mortend Bold"/>
                <a:cs typeface="Mortend Bold"/>
                <a:sym typeface="Mortend Bold"/>
              </a:rPr>
              <a:t>berinovasi untuk masa depan,</a:t>
            </a:r>
          </a:p>
          <a:p>
            <a:pPr algn="ctr">
              <a:lnSpc>
                <a:spcPts val="1500"/>
              </a:lnSpc>
            </a:pPr>
            <a:r>
              <a:rPr lang="en-US" sz="1500">
                <a:solidFill>
                  <a:srgbClr val="E6EBF4"/>
                </a:solidFill>
                <a:latin typeface="Mortend Bold"/>
                <a:ea typeface="Mortend Bold"/>
                <a:cs typeface="Mortend Bold"/>
                <a:sym typeface="Mortend Bold"/>
              </a:rPr>
              <a:t>memberdayakan talenta digital</a:t>
            </a:r>
          </a:p>
        </p:txBody>
      </p:sp>
      <p:sp>
        <p:nvSpPr>
          <p:cNvPr id="8" name="Freeform 8"/>
          <p:cNvSpPr/>
          <p:nvPr/>
        </p:nvSpPr>
        <p:spPr>
          <a:xfrm>
            <a:off x="1099298" y="756000"/>
            <a:ext cx="1197187" cy="225833"/>
          </a:xfrm>
          <a:custGeom>
            <a:avLst/>
            <a:gdLst/>
            <a:ahLst/>
            <a:cxnLst/>
            <a:rect l="l" t="t" r="r" b="b"/>
            <a:pathLst>
              <a:path w="1197187" h="225833">
                <a:moveTo>
                  <a:pt x="0" y="0"/>
                </a:moveTo>
                <a:lnTo>
                  <a:pt x="1197187" y="0"/>
                </a:lnTo>
                <a:lnTo>
                  <a:pt x="1197187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548199" y="756000"/>
            <a:ext cx="519156" cy="225833"/>
          </a:xfrm>
          <a:custGeom>
            <a:avLst/>
            <a:gdLst/>
            <a:ahLst/>
            <a:cxnLst/>
            <a:rect l="l" t="t" r="r" b="b"/>
            <a:pathLst>
              <a:path w="519156" h="225833">
                <a:moveTo>
                  <a:pt x="0" y="0"/>
                </a:moveTo>
                <a:lnTo>
                  <a:pt x="519156" y="0"/>
                </a:lnTo>
                <a:lnTo>
                  <a:pt x="519156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315005" y="756000"/>
            <a:ext cx="728085" cy="225833"/>
          </a:xfrm>
          <a:custGeom>
            <a:avLst/>
            <a:gdLst/>
            <a:ahLst/>
            <a:cxnLst/>
            <a:rect l="l" t="t" r="r" b="b"/>
            <a:pathLst>
              <a:path w="728085" h="225833">
                <a:moveTo>
                  <a:pt x="0" y="0"/>
                </a:moveTo>
                <a:lnTo>
                  <a:pt x="728086" y="0"/>
                </a:lnTo>
                <a:lnTo>
                  <a:pt x="728086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290741" y="756000"/>
            <a:ext cx="422447" cy="225833"/>
          </a:xfrm>
          <a:custGeom>
            <a:avLst/>
            <a:gdLst/>
            <a:ahLst/>
            <a:cxnLst/>
            <a:rect l="l" t="t" r="r" b="b"/>
            <a:pathLst>
              <a:path w="422447" h="225833">
                <a:moveTo>
                  <a:pt x="0" y="0"/>
                </a:moveTo>
                <a:lnTo>
                  <a:pt x="422446" y="0"/>
                </a:lnTo>
                <a:lnTo>
                  <a:pt x="422446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960837" y="756000"/>
            <a:ext cx="781729" cy="225833"/>
          </a:xfrm>
          <a:custGeom>
            <a:avLst/>
            <a:gdLst/>
            <a:ahLst/>
            <a:cxnLst/>
            <a:rect l="l" t="t" r="r" b="b"/>
            <a:pathLst>
              <a:path w="781729" h="225833">
                <a:moveTo>
                  <a:pt x="0" y="0"/>
                </a:moveTo>
                <a:lnTo>
                  <a:pt x="781730" y="0"/>
                </a:lnTo>
                <a:lnTo>
                  <a:pt x="781730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5990217" y="756000"/>
            <a:ext cx="470485" cy="225833"/>
          </a:xfrm>
          <a:custGeom>
            <a:avLst/>
            <a:gdLst/>
            <a:ahLst/>
            <a:cxnLst/>
            <a:rect l="l" t="t" r="r" b="b"/>
            <a:pathLst>
              <a:path w="470485" h="225833">
                <a:moveTo>
                  <a:pt x="0" y="0"/>
                </a:moveTo>
                <a:lnTo>
                  <a:pt x="470485" y="0"/>
                </a:lnTo>
                <a:lnTo>
                  <a:pt x="470485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1354</TotalTime>
  <Words>5804</Words>
  <Application>Microsoft Office PowerPoint</Application>
  <PresentationFormat>Custom</PresentationFormat>
  <Paragraphs>781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Oxanium</vt:lpstr>
      <vt:lpstr>Mortend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Draft Template Proposal 1st Submission Hackathon Digdaya 2026</dc:title>
  <dc:creator>Hamzah Arman Husni</dc:creator>
  <cp:lastModifiedBy>Hamzah Arman Husni</cp:lastModifiedBy>
  <cp:revision>13</cp:revision>
  <cp:lastPrinted>2026-04-04T12:56:48Z</cp:lastPrinted>
  <dcterms:created xsi:type="dcterms:W3CDTF">2006-08-16T00:00:00Z</dcterms:created>
  <dcterms:modified xsi:type="dcterms:W3CDTF">2026-06-04T14:40:20Z</dcterms:modified>
  <dc:identifier>DAHB19nf6LU</dc:identifier>
</cp:coreProperties>
</file>